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0" r:id="rId1"/>
  </p:sldMasterIdLst>
  <p:sldIdLst>
    <p:sldId id="256" r:id="rId2"/>
    <p:sldId id="258" r:id="rId3"/>
    <p:sldId id="260" r:id="rId4"/>
    <p:sldId id="257" r:id="rId5"/>
    <p:sldId id="259" r:id="rId6"/>
    <p:sldId id="261" r:id="rId7"/>
    <p:sldId id="262" r:id="rId8"/>
    <p:sldId id="263" r:id="rId9"/>
    <p:sldId id="264" r:id="rId10"/>
    <p:sldId id="267" r:id="rId11"/>
    <p:sldId id="268" r:id="rId12"/>
    <p:sldId id="269" r:id="rId13"/>
    <p:sldId id="272" r:id="rId14"/>
    <p:sldId id="273" r:id="rId15"/>
    <p:sldId id="274" r:id="rId16"/>
    <p:sldId id="275" r:id="rId17"/>
    <p:sldId id="276" r:id="rId18"/>
    <p:sldId id="265" r:id="rId19"/>
    <p:sldId id="266" r:id="rId20"/>
    <p:sldId id="27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55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4245421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3168056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3940282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89DAC558-00B5-4A82-8A30-487A7DD8ED55}" type="datetimeFigureOut">
              <a:rPr lang="fr-BE" smtClean="0"/>
              <a:t>27-11-25</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388817896"/>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89DAC558-00B5-4A82-8A30-487A7DD8ED55}" type="datetimeFigureOut">
              <a:rPr lang="fr-BE" smtClean="0"/>
              <a:t>27-11-25</a:t>
            </a:fld>
            <a:endParaRPr lang="fr-BE"/>
          </a:p>
        </p:txBody>
      </p:sp>
      <p:sp>
        <p:nvSpPr>
          <p:cNvPr id="8" name="Footer Placeholder 7"/>
          <p:cNvSpPr>
            <a:spLocks noGrp="1"/>
          </p:cNvSpPr>
          <p:nvPr>
            <p:ph type="ftr" sz="quarter" idx="11"/>
          </p:nvPr>
        </p:nvSpPr>
        <p:spPr/>
        <p:txBody>
          <a:bodyPr/>
          <a:lstStyle/>
          <a:p>
            <a:endParaRPr lang="fr-BE"/>
          </a:p>
        </p:txBody>
      </p:sp>
      <p:sp>
        <p:nvSpPr>
          <p:cNvPr id="9" name="Slide Number Placeholder 8"/>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3450887082"/>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9DAC558-00B5-4A82-8A30-487A7DD8ED55}" type="datetimeFigureOut">
              <a:rPr lang="fr-BE" smtClean="0"/>
              <a:t>27-11-25</a:t>
            </a:fld>
            <a:endParaRPr lang="fr-BE"/>
          </a:p>
        </p:txBody>
      </p:sp>
      <p:sp>
        <p:nvSpPr>
          <p:cNvPr id="4" name="Footer Placeholder 3"/>
          <p:cNvSpPr>
            <a:spLocks noGrp="1"/>
          </p:cNvSpPr>
          <p:nvPr>
            <p:ph type="ftr" sz="quarter" idx="11"/>
          </p:nvPr>
        </p:nvSpPr>
        <p:spPr/>
        <p:txBody>
          <a:bodyPr/>
          <a:lstStyle/>
          <a:p>
            <a:endParaRPr lang="fr-BE"/>
          </a:p>
        </p:txBody>
      </p:sp>
      <p:sp>
        <p:nvSpPr>
          <p:cNvPr id="5" name="Slide Number Placeholder 4"/>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2293865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9DAC558-00B5-4A82-8A30-487A7DD8ED55}" type="datetimeFigureOut">
              <a:rPr lang="fr-BE" smtClean="0"/>
              <a:t>27-11-25</a:t>
            </a:fld>
            <a:endParaRPr lang="fr-BE"/>
          </a:p>
        </p:txBody>
      </p:sp>
      <p:sp>
        <p:nvSpPr>
          <p:cNvPr id="3" name="Footer Placeholder 2"/>
          <p:cNvSpPr>
            <a:spLocks noGrp="1"/>
          </p:cNvSpPr>
          <p:nvPr>
            <p:ph type="ftr" sz="quarter" idx="11"/>
          </p:nvPr>
        </p:nvSpPr>
        <p:spPr/>
        <p:txBody>
          <a:bodyPr/>
          <a:lstStyle/>
          <a:p>
            <a:endParaRPr lang="fr-BE"/>
          </a:p>
        </p:txBody>
      </p:sp>
      <p:sp>
        <p:nvSpPr>
          <p:cNvPr id="4" name="Slide Number Placeholder 3"/>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691105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9DAC558-00B5-4A82-8A30-487A7DD8ED55}" type="datetimeFigureOut">
              <a:rPr lang="fr-BE" smtClean="0"/>
              <a:t>27-11-25</a:t>
            </a:fld>
            <a:endParaRPr lang="fr-BE"/>
          </a:p>
        </p:txBody>
      </p:sp>
      <p:sp>
        <p:nvSpPr>
          <p:cNvPr id="6" name="Footer Placeholder 5"/>
          <p:cNvSpPr>
            <a:spLocks noGrp="1"/>
          </p:cNvSpPr>
          <p:nvPr>
            <p:ph type="ftr" sz="quarter" idx="11"/>
          </p:nvPr>
        </p:nvSpPr>
        <p:spPr/>
        <p:txBody>
          <a:bodyPr/>
          <a:lstStyle/>
          <a:p>
            <a:endParaRPr lang="fr-BE"/>
          </a:p>
        </p:txBody>
      </p:sp>
      <p:sp>
        <p:nvSpPr>
          <p:cNvPr id="7" name="Slide Number Placeholder 6"/>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3213131076"/>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3FF7BFC-2C40-43B1-81A9-59C3106C7DF9}" type="slidenum">
              <a:rPr lang="fr-BE" smtClean="0"/>
              <a:t>‹N°›</a:t>
            </a:fld>
            <a:endParaRPr lang="fr-BE"/>
          </a:p>
        </p:txBody>
      </p:sp>
      <p:sp>
        <p:nvSpPr>
          <p:cNvPr id="5" name="Date Placeholder 4"/>
          <p:cNvSpPr>
            <a:spLocks noGrp="1"/>
          </p:cNvSpPr>
          <p:nvPr>
            <p:ph type="dt" sz="half" idx="10"/>
          </p:nvPr>
        </p:nvSpPr>
        <p:spPr/>
        <p:txBody>
          <a:bodyPr/>
          <a:lstStyle/>
          <a:p>
            <a:fld id="{89DAC558-00B5-4A82-8A30-487A7DD8ED55}" type="datetimeFigureOut">
              <a:rPr lang="fr-BE" smtClean="0"/>
              <a:t>27-11-25</a:t>
            </a:fld>
            <a:endParaRPr lang="fr-BE"/>
          </a:p>
        </p:txBody>
      </p:sp>
    </p:spTree>
    <p:extLst>
      <p:ext uri="{BB962C8B-B14F-4D97-AF65-F5344CB8AC3E}">
        <p14:creationId xmlns:p14="http://schemas.microsoft.com/office/powerpoint/2010/main" val="3815174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2341870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05078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7568190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486251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254149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25839506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9DAC558-00B5-4A82-8A30-487A7DD8ED55}" type="datetimeFigureOut">
              <a:rPr lang="fr-BE" smtClean="0"/>
              <a:t>27-11-25</a:t>
            </a:fld>
            <a:endParaRPr lang="fr-BE"/>
          </a:p>
        </p:txBody>
      </p:sp>
      <p:sp>
        <p:nvSpPr>
          <p:cNvPr id="5" name="Footer Placeholder 4"/>
          <p:cNvSpPr>
            <a:spLocks noGrp="1"/>
          </p:cNvSpPr>
          <p:nvPr>
            <p:ph type="ftr" sz="quarter" idx="11"/>
          </p:nvPr>
        </p:nvSpPr>
        <p:spPr/>
        <p:txBody>
          <a:bodyPr/>
          <a:lstStyle/>
          <a:p>
            <a:endParaRPr lang="fr-BE"/>
          </a:p>
        </p:txBody>
      </p:sp>
      <p:sp>
        <p:nvSpPr>
          <p:cNvPr id="6" name="Slide Number Placeholder 5"/>
          <p:cNvSpPr>
            <a:spLocks noGrp="1"/>
          </p:cNvSpPr>
          <p:nvPr>
            <p:ph type="sldNum" sz="quarter" idx="12"/>
          </p:nvPr>
        </p:nvSpPr>
        <p:spPr/>
        <p:txBody>
          <a:bodyPr/>
          <a:lstStyle/>
          <a:p>
            <a:fld id="{53FF7BFC-2C40-43B1-81A9-59C3106C7DF9}" type="slidenum">
              <a:rPr lang="fr-BE" smtClean="0"/>
              <a:t>‹N°›</a:t>
            </a:fld>
            <a:endParaRPr lang="fr-BE"/>
          </a:p>
        </p:txBody>
      </p:sp>
    </p:spTree>
    <p:extLst>
      <p:ext uri="{BB962C8B-B14F-4D97-AF65-F5344CB8AC3E}">
        <p14:creationId xmlns:p14="http://schemas.microsoft.com/office/powerpoint/2010/main" val="472862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9DAC558-00B5-4A82-8A30-487A7DD8ED55}" type="datetimeFigureOut">
              <a:rPr lang="fr-BE" smtClean="0"/>
              <a:t>27-11-25</a:t>
            </a:fld>
            <a:endParaRPr lang="fr-B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B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3FF7BFC-2C40-43B1-81A9-59C3106C7DF9}" type="slidenum">
              <a:rPr lang="fr-BE" smtClean="0"/>
              <a:t>‹N°›</a:t>
            </a:fld>
            <a:endParaRPr lang="fr-BE"/>
          </a:p>
        </p:txBody>
      </p:sp>
    </p:spTree>
    <p:extLst>
      <p:ext uri="{BB962C8B-B14F-4D97-AF65-F5344CB8AC3E}">
        <p14:creationId xmlns:p14="http://schemas.microsoft.com/office/powerpoint/2010/main" val="3156824678"/>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linkedin.com/in/nicolas-englebert-2origina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aggle.com/datasets/thebumpkin/700-edm-tracks-with-spotify-data"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festival-alarm.com/us/Categories/Electronic-music-festivals/(year)/2026"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922985" y="198356"/>
            <a:ext cx="8152327" cy="381697"/>
          </a:xfrm>
        </p:spPr>
        <p:txBody>
          <a:bodyPr>
            <a:noAutofit/>
          </a:bodyPr>
          <a:lstStyle/>
          <a:p>
            <a:pPr algn="l"/>
            <a:r>
              <a:rPr lang="fr-BE" sz="2400" b="1" i="0" u="sng" strike="noStrike" baseline="0" dirty="0">
                <a:solidFill>
                  <a:srgbClr val="7030A0"/>
                </a:solidFill>
                <a:latin typeface="Cascadia Code SemiBold" panose="020B0609020000020004" pitchFamily="49" charset="0"/>
                <a:cs typeface="Cascadia Code SemiBold" panose="020B0609020000020004" pitchFamily="49" charset="0"/>
              </a:rPr>
              <a:t>Projet BI Musiques électroniques &amp; Festivals</a:t>
            </a:r>
            <a:endParaRPr lang="fr-BE" sz="2400" u="sng" dirty="0">
              <a:solidFill>
                <a:srgbClr val="7030A0"/>
              </a:solidFill>
              <a:latin typeface="Cascadia Code SemiBold" panose="020B0609020000020004" pitchFamily="49" charset="0"/>
              <a:cs typeface="Cascadia Code SemiBold" panose="020B0609020000020004" pitchFamily="49" charset="0"/>
            </a:endParaRPr>
          </a:p>
        </p:txBody>
      </p:sp>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922985" y="736308"/>
            <a:ext cx="8478593" cy="886430"/>
          </a:xfrm>
        </p:spPr>
        <p:txBody>
          <a:bodyPr>
            <a:normAutofit fontScale="40000" lnSpcReduction="20000"/>
          </a:bodyPr>
          <a:lstStyle/>
          <a:p>
            <a:pPr algn="l"/>
            <a:r>
              <a:rPr lang="fr-FR" sz="4500" b="1" u="sng" dirty="0">
                <a:solidFill>
                  <a:schemeClr val="tx1"/>
                </a:solidFill>
                <a:latin typeface="Cascadia Code SemiBold" panose="020B0609020000020004" pitchFamily="49" charset="0"/>
                <a:cs typeface="Cascadia Code SemiBold" panose="020B0609020000020004" pitchFamily="49" charset="0"/>
              </a:rPr>
              <a:t>Storytelling</a:t>
            </a:r>
            <a:r>
              <a:rPr lang="fr-FR" sz="4500" b="1" dirty="0">
                <a:solidFill>
                  <a:schemeClr val="tx1"/>
                </a:solidFill>
                <a:latin typeface="Cascadia Code SemiBold" panose="020B0609020000020004" pitchFamily="49" charset="0"/>
                <a:cs typeface="Cascadia Code SemiBold" panose="020B0609020000020004" pitchFamily="49" charset="0"/>
              </a:rPr>
              <a:t>: qui suis-je et pourquoi ce sujet?</a:t>
            </a:r>
            <a:br>
              <a:rPr lang="fr-FR" sz="4500" b="1" dirty="0">
                <a:solidFill>
                  <a:schemeClr val="tx1"/>
                </a:solidFill>
                <a:latin typeface="Cascadia Code SemiBold" panose="020B0609020000020004" pitchFamily="49" charset="0"/>
                <a:cs typeface="Cascadia Code SemiBold" panose="020B0609020000020004" pitchFamily="49" charset="0"/>
              </a:rPr>
            </a:br>
            <a:br>
              <a:rPr lang="fr-FR" sz="4500" b="1" dirty="0">
                <a:solidFill>
                  <a:schemeClr val="tx1"/>
                </a:solidFill>
                <a:latin typeface="Cascadia Code SemiBold" panose="020B0609020000020004" pitchFamily="49" charset="0"/>
                <a:cs typeface="Cascadia Code SemiBold" panose="020B0609020000020004" pitchFamily="49" charset="0"/>
              </a:rPr>
            </a:br>
            <a:r>
              <a:rPr lang="fr-FR" sz="4500" b="1" dirty="0">
                <a:solidFill>
                  <a:schemeClr val="accent2"/>
                </a:solidFill>
                <a:latin typeface="Cascadia Code SemiBold" panose="020B0609020000020004" pitchFamily="49" charset="0"/>
                <a:cs typeface="Cascadia Code SemiBold" panose="020B0609020000020004" pitchFamily="49" charset="0"/>
                <a:hlinkClick r:id="rId2">
                  <a:extLst>
                    <a:ext uri="{A12FA001-AC4F-418D-AE19-62706E023703}">
                      <ahyp:hlinkClr xmlns:ahyp="http://schemas.microsoft.com/office/drawing/2018/hyperlinkcolor" val="tx"/>
                    </a:ext>
                  </a:extLst>
                </a:hlinkClick>
              </a:rPr>
              <a:t>https://www.linkedin.com/in/nicolas-englebert-2original/</a:t>
            </a:r>
            <a:r>
              <a:rPr lang="fr-FR" sz="4500" b="1" dirty="0">
                <a:solidFill>
                  <a:schemeClr val="accent2"/>
                </a:solidFill>
                <a:latin typeface="Cascadia Code SemiBold" panose="020B0609020000020004" pitchFamily="49" charset="0"/>
                <a:cs typeface="Cascadia Code SemiBold" panose="020B0609020000020004" pitchFamily="49" charset="0"/>
              </a:rPr>
              <a:t> </a:t>
            </a:r>
            <a:br>
              <a:rPr lang="fr-FR" sz="2800" b="1" dirty="0">
                <a:solidFill>
                  <a:schemeClr val="tx1"/>
                </a:solidFill>
              </a:rPr>
            </a:br>
            <a:endParaRPr lang="fr-BE" sz="2800" b="1" dirty="0">
              <a:solidFill>
                <a:schemeClr val="tx1"/>
              </a:solidFill>
            </a:endParaRPr>
          </a:p>
        </p:txBody>
      </p:sp>
      <p:pic>
        <p:nvPicPr>
          <p:cNvPr id="5" name="Image 4">
            <a:extLst>
              <a:ext uri="{FF2B5EF4-FFF2-40B4-BE49-F238E27FC236}">
                <a16:creationId xmlns:a16="http://schemas.microsoft.com/office/drawing/2014/main" id="{2CB2C943-E96C-6AB0-0DE1-AF03B04C5433}"/>
              </a:ext>
            </a:extLst>
          </p:cNvPr>
          <p:cNvPicPr>
            <a:picLocks noChangeAspect="1"/>
          </p:cNvPicPr>
          <p:nvPr/>
        </p:nvPicPr>
        <p:blipFill>
          <a:blip r:embed="rId3"/>
          <a:stretch>
            <a:fillRect/>
          </a:stretch>
        </p:blipFill>
        <p:spPr>
          <a:xfrm>
            <a:off x="922985" y="1770830"/>
            <a:ext cx="6314943" cy="4697965"/>
          </a:xfrm>
          <a:prstGeom prst="rect">
            <a:avLst/>
          </a:prstGeom>
        </p:spPr>
      </p:pic>
    </p:spTree>
    <p:extLst>
      <p:ext uri="{BB962C8B-B14F-4D97-AF65-F5344CB8AC3E}">
        <p14:creationId xmlns:p14="http://schemas.microsoft.com/office/powerpoint/2010/main" val="28555157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837123" y="2305341"/>
            <a:ext cx="2167381" cy="540912"/>
          </a:xfrm>
        </p:spPr>
        <p:txBody>
          <a:bodyPr/>
          <a:lstStyle/>
          <a:p>
            <a:pPr algn="l"/>
            <a:r>
              <a:rPr lang="fr-FR" sz="2400" b="1" u="sng" dirty="0">
                <a:solidFill>
                  <a:srgbClr val="7030A0"/>
                </a:solidFill>
                <a:effectLst/>
                <a:latin typeface="Cascadia Code SemiBold" panose="020B0609020000020004" pitchFamily="49" charset="0"/>
                <a:ea typeface="Aptos" panose="020B0004020202020204" pitchFamily="34" charset="0"/>
                <a:cs typeface="Cascadia Code SemiBold" panose="020B0609020000020004" pitchFamily="49" charset="0"/>
              </a:rPr>
              <a:t>Objectifs</a:t>
            </a:r>
            <a:r>
              <a:rPr lang="fr-FR" sz="2400" b="1" dirty="0">
                <a:solidFill>
                  <a:srgbClr val="7030A0"/>
                </a:solidFill>
                <a:effectLst/>
                <a:latin typeface="Cascadia Code SemiBold" panose="020B0609020000020004" pitchFamily="49" charset="0"/>
                <a:ea typeface="Aptos" panose="020B0004020202020204" pitchFamily="34" charset="0"/>
                <a:cs typeface="Cascadia Code SemiBold" panose="020B0609020000020004" pitchFamily="49" charset="0"/>
              </a:rPr>
              <a:t>:</a:t>
            </a:r>
            <a:endParaRPr lang="fr-BE" sz="2400" dirty="0">
              <a:solidFill>
                <a:srgbClr val="7030A0"/>
              </a:solidFill>
              <a:latin typeface="Cascadia Code SemiBold" panose="020B0609020000020004" pitchFamily="49" charset="0"/>
              <a:cs typeface="Cascadia Code SemiBold" panose="020B0609020000020004" pitchFamily="49" charset="0"/>
            </a:endParaRPr>
          </a:p>
        </p:txBody>
      </p:sp>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837123" y="3051419"/>
            <a:ext cx="8295208" cy="3699458"/>
          </a:xfrm>
        </p:spPr>
        <p:txBody>
          <a:bodyPr>
            <a:noAutofit/>
          </a:bodyPr>
          <a:lstStyle/>
          <a:p>
            <a:pPr algn="l">
              <a:lnSpc>
                <a:spcPct val="115000"/>
              </a:lnSpc>
              <a:spcAft>
                <a:spcPts val="1000"/>
              </a:spcAft>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Construire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un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modèle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BI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robuste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basé</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sur un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modèle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en</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étoile.</a:t>
            </a:r>
            <a:endParaRPr lang="fr-BE"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endParaRPr>
          </a:p>
          <a:p>
            <a:pPr algn="l">
              <a:lnSpc>
                <a:spcPct val="115000"/>
              </a:lnSpc>
              <a:spcAft>
                <a:spcPts val="1000"/>
              </a:spcAft>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Analyser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les tendances musicales, les BPM, les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durées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la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popularité</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Spotify.</a:t>
            </a:r>
            <a:endParaRPr lang="fr-BE"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endParaRPr>
          </a:p>
          <a:p>
            <a:pPr algn="l">
              <a:lnSpc>
                <a:spcPct val="115000"/>
              </a:lnSpc>
              <a:spcAft>
                <a:spcPts val="1000"/>
              </a:spcAft>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fr-FR" sz="1600" b="1" dirty="0">
                <a:solidFill>
                  <a:schemeClr val="tx1"/>
                </a:solidFill>
                <a:latin typeface="Cascadia Code SemiBold" panose="020B0609020000020004" pitchFamily="49" charset="0"/>
                <a:ea typeface="MS Mincho" panose="02020609040205080304" pitchFamily="49" charset="-128"/>
                <a:cs typeface="Cascadia Code SemiBold" panose="020B0609020000020004" pitchFamily="49" charset="0"/>
              </a:rPr>
              <a:t>Mettre en évidence les indicateurs clés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prix,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fréquentation</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genres, pays,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calendrier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a:t>
            </a:r>
            <a:endParaRPr lang="fr-BE"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endParaRPr>
          </a:p>
          <a:p>
            <a:pPr algn="l">
              <a:lnSpc>
                <a:spcPct val="115000"/>
              </a:lnSpc>
              <a:spcAft>
                <a:spcPts val="1000"/>
              </a:spcAft>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Produire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des dashboards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interactifs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dans Power BI.</a:t>
            </a:r>
            <a:endParaRPr lang="fr-BE"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endParaRPr>
          </a:p>
          <a:p>
            <a:pPr algn="l">
              <a:lnSpc>
                <a:spcPct val="115000"/>
              </a:lnSpc>
              <a:spcAft>
                <a:spcPts val="1000"/>
              </a:spcAft>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Fournir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des insights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actionnables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pour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décideurs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artistes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ou</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organisateurs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a:t>
            </a:r>
            <a:endParaRPr lang="fr-BE"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endParaRPr>
          </a:p>
        </p:txBody>
      </p:sp>
      <p:sp>
        <p:nvSpPr>
          <p:cNvPr id="7" name="ZoneTexte 6">
            <a:extLst>
              <a:ext uri="{FF2B5EF4-FFF2-40B4-BE49-F238E27FC236}">
                <a16:creationId xmlns:a16="http://schemas.microsoft.com/office/drawing/2014/main" id="{0BAAB6E3-8417-7E0E-C852-E8156E9F53C9}"/>
              </a:ext>
            </a:extLst>
          </p:cNvPr>
          <p:cNvSpPr txBox="1"/>
          <p:nvPr/>
        </p:nvSpPr>
        <p:spPr>
          <a:xfrm>
            <a:off x="837123" y="896384"/>
            <a:ext cx="8783393" cy="1203791"/>
          </a:xfrm>
          <a:prstGeom prst="rect">
            <a:avLst/>
          </a:prstGeom>
          <a:noFill/>
        </p:spPr>
        <p:txBody>
          <a:bodyPr wrap="square">
            <a:spAutoFit/>
          </a:bodyPr>
          <a:lstStyle/>
          <a:p>
            <a:pPr>
              <a:lnSpc>
                <a:spcPct val="115000"/>
              </a:lnSpc>
              <a:spcAft>
                <a:spcPts val="1000"/>
              </a:spcAft>
            </a:pP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Ce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projet</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BI vie à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fournir</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une</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vision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claire</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des tendances musicales, des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comportements</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du public et des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répartitions</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latin typeface="Cascadia Code SemiBold" panose="020B0609020000020004" pitchFamily="49" charset="0"/>
                <a:ea typeface="MS Mincho" panose="02020609040205080304" pitchFamily="49" charset="-128"/>
                <a:cs typeface="Cascadia Code SemiBold" panose="020B0609020000020004" pitchFamily="49" charset="0"/>
              </a:rPr>
              <a:t>géographiques</a:t>
            </a:r>
            <a:r>
              <a:rPr lang="en-US" sz="1600" b="1" dirty="0">
                <a:latin typeface="Cascadia Code SemiBold" panose="020B0609020000020004" pitchFamily="49" charset="0"/>
                <a:ea typeface="MS Mincho" panose="02020609040205080304" pitchFamily="49" charset="-128"/>
                <a:cs typeface="Cascadia Code SemiBold" panose="020B0609020000020004" pitchFamily="49" charset="0"/>
              </a:rPr>
              <a:t> des festivals </a:t>
            </a:r>
            <a:r>
              <a:rPr lang="fr-FR" sz="1600" b="1" dirty="0">
                <a:latin typeface="Cascadia Code SemiBold" panose="020B0609020000020004" pitchFamily="49" charset="0"/>
                <a:ea typeface="MS Mincho" panose="02020609040205080304" pitchFamily="49" charset="-128"/>
                <a:cs typeface="Cascadia Code SemiBold" panose="020B0609020000020004" pitchFamily="49" charset="0"/>
              </a:rPr>
              <a:t>afin d’identifier des tendances liées aux genres, aux prix et à la fréquentation.</a:t>
            </a:r>
            <a:endParaRPr lang="fr-BE" sz="1600" b="1" dirty="0">
              <a:latin typeface="Cascadia Code SemiBold" panose="020B0609020000020004" pitchFamily="49" charset="0"/>
              <a:ea typeface="MS Mincho" panose="02020609040205080304" pitchFamily="49" charset="-128"/>
              <a:cs typeface="Cascadia Code SemiBold" panose="020B0609020000020004" pitchFamily="49" charset="0"/>
            </a:endParaRPr>
          </a:p>
        </p:txBody>
      </p:sp>
      <p:sp>
        <p:nvSpPr>
          <p:cNvPr id="9" name="ZoneTexte 8">
            <a:extLst>
              <a:ext uri="{FF2B5EF4-FFF2-40B4-BE49-F238E27FC236}">
                <a16:creationId xmlns:a16="http://schemas.microsoft.com/office/drawing/2014/main" id="{9BBFF7CE-4B6E-648C-FD0C-2152097D3A3B}"/>
              </a:ext>
            </a:extLst>
          </p:cNvPr>
          <p:cNvSpPr txBox="1"/>
          <p:nvPr/>
        </p:nvSpPr>
        <p:spPr>
          <a:xfrm>
            <a:off x="837123" y="308412"/>
            <a:ext cx="1790163" cy="485389"/>
          </a:xfrm>
          <a:prstGeom prst="rect">
            <a:avLst/>
          </a:prstGeom>
          <a:noFill/>
        </p:spPr>
        <p:txBody>
          <a:bodyPr wrap="square">
            <a:spAutoFit/>
          </a:bodyPr>
          <a:lstStyle/>
          <a:p>
            <a:pPr>
              <a:lnSpc>
                <a:spcPct val="115000"/>
              </a:lnSpc>
              <a:spcBef>
                <a:spcPts val="1000"/>
              </a:spcBef>
            </a:pPr>
            <a:r>
              <a:rPr lang="en-US" sz="2400" b="1" u="sng" dirty="0">
                <a:solidFill>
                  <a:srgbClr val="7030A0"/>
                </a:solidFill>
                <a:latin typeface="Cascadia Code SemiBold" panose="020B0609020000020004" pitchFamily="49" charset="0"/>
                <a:cs typeface="Cascadia Code SemiBold" panose="020B0609020000020004" pitchFamily="49" charset="0"/>
              </a:rPr>
              <a:t>Intro:</a:t>
            </a:r>
            <a:endParaRPr lang="fr-BE" sz="2400" b="1" u="sng" dirty="0">
              <a:solidFill>
                <a:srgbClr val="7030A0"/>
              </a:solidFill>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39333280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300766" y="370866"/>
            <a:ext cx="2781837" cy="440503"/>
          </a:xfrm>
        </p:spPr>
        <p:txBody>
          <a:bodyPr/>
          <a:lstStyle/>
          <a:p>
            <a:pPr algn="l"/>
            <a:r>
              <a:rPr lang="fr-FR" sz="2400" u="sng" dirty="0">
                <a:solidFill>
                  <a:srgbClr val="7030A0"/>
                </a:solidFill>
                <a:latin typeface="Cascadia Code SemiBold" panose="020B0609020000020004" pitchFamily="49" charset="0"/>
                <a:cs typeface="Cascadia Code SemiBold" panose="020B0609020000020004" pitchFamily="49" charset="0"/>
              </a:rPr>
              <a:t>Structure</a:t>
            </a:r>
            <a:r>
              <a:rPr lang="fr-FR" sz="2400" dirty="0">
                <a:solidFill>
                  <a:srgbClr val="7030A0"/>
                </a:solidFill>
                <a:latin typeface="Cascadia Code SemiBold" panose="020B0609020000020004" pitchFamily="49" charset="0"/>
                <a:cs typeface="Cascadia Code SemiBold" panose="020B0609020000020004" pitchFamily="49" charset="0"/>
              </a:rPr>
              <a:t>:</a:t>
            </a:r>
            <a:endParaRPr lang="fr-BE" sz="2400" dirty="0">
              <a:solidFill>
                <a:srgbClr val="7030A0"/>
              </a:solidFill>
              <a:latin typeface="Cascadia Code SemiBold" panose="020B0609020000020004" pitchFamily="49" charset="0"/>
              <a:cs typeface="Cascadia Code SemiBold" panose="020B0609020000020004" pitchFamily="49" charset="0"/>
            </a:endParaRPr>
          </a:p>
        </p:txBody>
      </p:sp>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804441" y="980382"/>
            <a:ext cx="8893350" cy="1191928"/>
          </a:xfrm>
        </p:spPr>
        <p:txBody>
          <a:bodyPr>
            <a:noAutofit/>
          </a:bodyPr>
          <a:lstStyle/>
          <a:p>
            <a:pPr algn="l"/>
            <a:r>
              <a:rPr lang="fr-FR" sz="1600" b="1" dirty="0">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Source → ETL (</a:t>
            </a:r>
            <a:r>
              <a:rPr lang="fr-FR" sz="1600" b="1" dirty="0" err="1">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Extract</a:t>
            </a:r>
            <a:r>
              <a:rPr lang="fr-FR" sz="1600" b="1" dirty="0">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 </a:t>
            </a:r>
            <a:r>
              <a:rPr lang="fr-FR" sz="1600" b="1" dirty="0" err="1">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Transform</a:t>
            </a:r>
            <a:r>
              <a:rPr lang="fr-FR" sz="1600" b="1" dirty="0">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 </a:t>
            </a:r>
            <a:r>
              <a:rPr lang="fr-FR" sz="1600" b="1" dirty="0" err="1">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Load</a:t>
            </a:r>
            <a:r>
              <a:rPr lang="fr-FR" sz="1600" b="1" dirty="0">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t>) → Data Warehouse → Modélisation → Dashboard Power BI</a:t>
            </a:r>
            <a:br>
              <a:rPr lang="fr-BE" sz="1600" dirty="0">
                <a:solidFill>
                  <a:schemeClr val="tx1"/>
                </a:solidFill>
                <a:effectLst/>
                <a:latin typeface="Cascadia Code SemiBold" panose="020B0609020000020004" pitchFamily="49" charset="0"/>
                <a:ea typeface="Aptos" panose="020B0004020202020204" pitchFamily="34" charset="0"/>
                <a:cs typeface="Cascadia Code SemiBold" panose="020B0609020000020004" pitchFamily="49" charset="0"/>
              </a:rPr>
            </a:br>
            <a:endParaRPr lang="fr-BE" sz="1600" dirty="0">
              <a:solidFill>
                <a:schemeClr val="tx1"/>
              </a:solidFill>
              <a:latin typeface="Cascadia Code SemiBold" panose="020B0609020000020004" pitchFamily="49" charset="0"/>
              <a:cs typeface="Cascadia Code SemiBold" panose="020B0609020000020004" pitchFamily="49" charset="0"/>
            </a:endParaRPr>
          </a:p>
        </p:txBody>
      </p:sp>
      <p:pic>
        <p:nvPicPr>
          <p:cNvPr id="8" name="Image 7">
            <a:extLst>
              <a:ext uri="{FF2B5EF4-FFF2-40B4-BE49-F238E27FC236}">
                <a16:creationId xmlns:a16="http://schemas.microsoft.com/office/drawing/2014/main" id="{5C61A319-65C9-2FF7-A5D0-81B39E71F66F}"/>
              </a:ext>
            </a:extLst>
          </p:cNvPr>
          <p:cNvPicPr>
            <a:picLocks noChangeAspect="1"/>
          </p:cNvPicPr>
          <p:nvPr/>
        </p:nvPicPr>
        <p:blipFill>
          <a:blip r:embed="rId2"/>
          <a:stretch>
            <a:fillRect/>
          </a:stretch>
        </p:blipFill>
        <p:spPr>
          <a:xfrm>
            <a:off x="1036222" y="1932062"/>
            <a:ext cx="5915025" cy="3352800"/>
          </a:xfrm>
          <a:prstGeom prst="rect">
            <a:avLst/>
          </a:prstGeom>
        </p:spPr>
      </p:pic>
    </p:spTree>
    <p:extLst>
      <p:ext uri="{BB962C8B-B14F-4D97-AF65-F5344CB8AC3E}">
        <p14:creationId xmlns:p14="http://schemas.microsoft.com/office/powerpoint/2010/main" val="3366202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752250" y="668881"/>
            <a:ext cx="9543245" cy="1018716"/>
          </a:xfrm>
        </p:spPr>
        <p:txBody>
          <a:bodyPr>
            <a:normAutofit fontScale="25000" lnSpcReduction="20000"/>
          </a:bodyPr>
          <a:lstStyle/>
          <a:p>
            <a:pPr algn="l"/>
            <a:br>
              <a:rPr lang="fr-BE" sz="1800" b="1" dirty="0">
                <a:hlinkClick r:id="rId2">
                  <a:extLst>
                    <a:ext uri="{A12FA001-AC4F-418D-AE19-62706E023703}">
                      <ahyp:hlinkClr xmlns:ahyp="http://schemas.microsoft.com/office/drawing/2018/hyperlinkcolor" val="tx"/>
                    </a:ext>
                  </a:extLst>
                </a:hlinkClick>
              </a:rPr>
            </a:br>
            <a:br>
              <a:rPr lang="fr-BE" sz="1800" dirty="0">
                <a:solidFill>
                  <a:srgbClr val="467886"/>
                </a:solidFill>
                <a:hlinkClick r:id="rId2">
                  <a:extLst>
                    <a:ext uri="{A12FA001-AC4F-418D-AE19-62706E023703}">
                      <ahyp:hlinkClr xmlns:ahyp="http://schemas.microsoft.com/office/drawing/2018/hyperlinkcolor" val="tx"/>
                    </a:ext>
                  </a:extLst>
                </a:hlinkClick>
              </a:rPr>
            </a:br>
            <a:r>
              <a:rPr lang="fr-FR" sz="6400" b="1" dirty="0">
                <a:solidFill>
                  <a:schemeClr val="accent2"/>
                </a:solidFill>
                <a:latin typeface="Cascadia Code SemiBold" panose="020B0609020000020004" pitchFamily="49" charset="0"/>
                <a:cs typeface="Cascadia Code SemiBold" panose="020B0609020000020004" pitchFamily="49" charset="0"/>
              </a:rPr>
              <a:t>Source CSV Spotify via </a:t>
            </a:r>
            <a:r>
              <a:rPr lang="fr-FR" sz="6400" b="1" dirty="0" err="1">
                <a:solidFill>
                  <a:schemeClr val="accent2"/>
                </a:solidFill>
                <a:latin typeface="Cascadia Code SemiBold" panose="020B0609020000020004" pitchFamily="49" charset="0"/>
                <a:cs typeface="Cascadia Code SemiBold" panose="020B0609020000020004" pitchFamily="49" charset="0"/>
              </a:rPr>
              <a:t>Kaggle</a:t>
            </a:r>
            <a:r>
              <a:rPr lang="fr-FR" sz="6400" b="1" dirty="0">
                <a:solidFill>
                  <a:schemeClr val="accent2"/>
                </a:solidFill>
                <a:latin typeface="Cascadia Code SemiBold" panose="020B0609020000020004" pitchFamily="49" charset="0"/>
                <a:cs typeface="Cascadia Code SemiBold" panose="020B0609020000020004" pitchFamily="49" charset="0"/>
              </a:rPr>
              <a:t>:</a:t>
            </a:r>
            <a:br>
              <a:rPr lang="fr-FR" sz="6400" b="1" dirty="0">
                <a:solidFill>
                  <a:schemeClr val="accent2"/>
                </a:solidFill>
                <a:latin typeface="Cascadia Code SemiBold" panose="020B0609020000020004" pitchFamily="49" charset="0"/>
                <a:cs typeface="Cascadia Code SemiBold" panose="020B0609020000020004" pitchFamily="49" charset="0"/>
              </a:rPr>
            </a:br>
            <a:br>
              <a:rPr lang="fr-FR" sz="6400" b="1" dirty="0">
                <a:solidFill>
                  <a:schemeClr val="accent2"/>
                </a:solidFill>
                <a:latin typeface="Cascadia Code SemiBold" panose="020B0609020000020004" pitchFamily="49" charset="0"/>
                <a:cs typeface="Cascadia Code SemiBold" panose="020B0609020000020004" pitchFamily="49" charset="0"/>
              </a:rPr>
            </a:br>
            <a:r>
              <a:rPr lang="fr-BE" sz="7200" b="1" dirty="0">
                <a:solidFill>
                  <a:schemeClr val="accent2"/>
                </a:solidFill>
                <a:latin typeface="Cascadia Code SemiBold" panose="020B0609020000020004" pitchFamily="49" charset="0"/>
                <a:cs typeface="Cascadia Code SemiBold" panose="020B0609020000020004" pitchFamily="49" charset="0"/>
                <a:hlinkClick r:id="rId2">
                  <a:extLst>
                    <a:ext uri="{A12FA001-AC4F-418D-AE19-62706E023703}">
                      <ahyp:hlinkClr xmlns:ahyp="http://schemas.microsoft.com/office/drawing/2018/hyperlinkcolor" val="tx"/>
                    </a:ext>
                  </a:extLst>
                </a:hlinkClick>
              </a:rPr>
              <a:t>https://www.kaggle.com/datasets/thebumpkin/700-edm-tracks-with-spotify-data</a:t>
            </a:r>
            <a:r>
              <a:rPr lang="fr-BE" sz="7200" b="1" dirty="0">
                <a:solidFill>
                  <a:schemeClr val="accent2"/>
                </a:solidFill>
                <a:latin typeface="Cascadia Code SemiBold" panose="020B0609020000020004" pitchFamily="49" charset="0"/>
                <a:cs typeface="Cascadia Code SemiBold" panose="020B0609020000020004" pitchFamily="49" charset="0"/>
              </a:rPr>
              <a:t> </a:t>
            </a:r>
            <a:br>
              <a:rPr lang="fr-BE" sz="2600" b="1" dirty="0">
                <a:solidFill>
                  <a:schemeClr val="accent2"/>
                </a:solidFill>
              </a:rPr>
            </a:br>
            <a:br>
              <a:rPr lang="fr-BE" sz="1800" dirty="0"/>
            </a:br>
            <a:endParaRPr lang="fr-BE" sz="1800" dirty="0"/>
          </a:p>
        </p:txBody>
      </p:sp>
      <p:pic>
        <p:nvPicPr>
          <p:cNvPr id="5" name="Image 4">
            <a:extLst>
              <a:ext uri="{FF2B5EF4-FFF2-40B4-BE49-F238E27FC236}">
                <a16:creationId xmlns:a16="http://schemas.microsoft.com/office/drawing/2014/main" id="{72DF8356-C799-2059-FC42-12E758D7A085}"/>
              </a:ext>
            </a:extLst>
          </p:cNvPr>
          <p:cNvPicPr>
            <a:picLocks noChangeAspect="1"/>
          </p:cNvPicPr>
          <p:nvPr/>
        </p:nvPicPr>
        <p:blipFill>
          <a:blip r:embed="rId3"/>
          <a:stretch>
            <a:fillRect/>
          </a:stretch>
        </p:blipFill>
        <p:spPr>
          <a:xfrm>
            <a:off x="291033" y="2017572"/>
            <a:ext cx="11647682" cy="4705200"/>
          </a:xfrm>
          <a:prstGeom prst="rect">
            <a:avLst/>
          </a:prstGeom>
        </p:spPr>
      </p:pic>
      <p:sp>
        <p:nvSpPr>
          <p:cNvPr id="6" name="Titre 1">
            <a:extLst>
              <a:ext uri="{FF2B5EF4-FFF2-40B4-BE49-F238E27FC236}">
                <a16:creationId xmlns:a16="http://schemas.microsoft.com/office/drawing/2014/main" id="{A8F61C38-8BB8-B5C7-C05F-AB045C7E8708}"/>
              </a:ext>
            </a:extLst>
          </p:cNvPr>
          <p:cNvSpPr txBox="1">
            <a:spLocks/>
          </p:cNvSpPr>
          <p:nvPr/>
        </p:nvSpPr>
        <p:spPr>
          <a:xfrm>
            <a:off x="974441" y="32678"/>
            <a:ext cx="6075840" cy="583961"/>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fr-FR" sz="2400" u="sng" dirty="0" err="1">
                <a:solidFill>
                  <a:srgbClr val="FF0000"/>
                </a:solidFill>
                <a:latin typeface="Cascadia Code SemiBold" panose="020B0609020000020004" pitchFamily="49" charset="0"/>
                <a:cs typeface="Cascadia Code SemiBold" panose="020B0609020000020004" pitchFamily="49" charset="0"/>
              </a:rPr>
              <a:t>E</a:t>
            </a:r>
            <a:r>
              <a:rPr lang="fr-FR" sz="2400" u="sng" dirty="0" err="1">
                <a:solidFill>
                  <a:srgbClr val="7030A0"/>
                </a:solidFill>
                <a:latin typeface="Cascadia Code SemiBold" panose="020B0609020000020004" pitchFamily="49" charset="0"/>
                <a:cs typeface="Cascadia Code SemiBold" panose="020B0609020000020004" pitchFamily="49" charset="0"/>
              </a:rPr>
              <a:t>TL:Data</a:t>
            </a:r>
            <a:r>
              <a:rPr lang="fr-FR" sz="2400" u="sng" dirty="0">
                <a:solidFill>
                  <a:srgbClr val="7030A0"/>
                </a:solidFill>
                <a:latin typeface="Cascadia Code SemiBold" panose="020B0609020000020004" pitchFamily="49" charset="0"/>
                <a:cs typeface="Cascadia Code SemiBold" panose="020B0609020000020004" pitchFamily="49" charset="0"/>
              </a:rPr>
              <a:t> </a:t>
            </a:r>
            <a:r>
              <a:rPr lang="fr-FR" sz="2400" u="sng" dirty="0">
                <a:solidFill>
                  <a:srgbClr val="FF0000"/>
                </a:solidFill>
                <a:latin typeface="Cascadia Code SemiBold" panose="020B0609020000020004" pitchFamily="49" charset="0"/>
                <a:cs typeface="Cascadia Code SemiBold" panose="020B0609020000020004" pitchFamily="49" charset="0"/>
              </a:rPr>
              <a:t>E</a:t>
            </a:r>
            <a:r>
              <a:rPr lang="fr-FR" sz="2400" u="sng" dirty="0">
                <a:solidFill>
                  <a:srgbClr val="7030A0"/>
                </a:solidFill>
                <a:latin typeface="Cascadia Code SemiBold" panose="020B0609020000020004" pitchFamily="49" charset="0"/>
                <a:cs typeface="Cascadia Code SemiBold" panose="020B0609020000020004" pitchFamily="49" charset="0"/>
              </a:rPr>
              <a:t>xtraction pour Spotify</a:t>
            </a:r>
            <a:endParaRPr lang="fr-BE" sz="2400" dirty="0">
              <a:solidFill>
                <a:srgbClr val="7030A0"/>
              </a:solidFill>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4271151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855065" y="277938"/>
            <a:ext cx="7075431" cy="566738"/>
          </a:xfrm>
        </p:spPr>
        <p:txBody>
          <a:bodyPr/>
          <a:lstStyle/>
          <a:p>
            <a:pPr algn="l"/>
            <a:r>
              <a:rPr lang="fr-FR" sz="2400" u="sng" dirty="0" err="1">
                <a:solidFill>
                  <a:srgbClr val="FF0000"/>
                </a:solidFill>
                <a:latin typeface="Cascadia Code SemiBold" panose="020B0609020000020004" pitchFamily="49" charset="0"/>
                <a:cs typeface="Cascadia Code SemiBold" panose="020B0609020000020004" pitchFamily="49" charset="0"/>
              </a:rPr>
              <a:t>E</a:t>
            </a:r>
            <a:r>
              <a:rPr lang="fr-FR" sz="2400" u="sng" dirty="0" err="1">
                <a:solidFill>
                  <a:srgbClr val="7030A0"/>
                </a:solidFill>
                <a:latin typeface="Cascadia Code SemiBold" panose="020B0609020000020004" pitchFamily="49" charset="0"/>
                <a:cs typeface="Cascadia Code SemiBold" panose="020B0609020000020004" pitchFamily="49" charset="0"/>
              </a:rPr>
              <a:t>TL:Data</a:t>
            </a:r>
            <a:r>
              <a:rPr lang="fr-FR" sz="2400" u="sng" dirty="0">
                <a:solidFill>
                  <a:srgbClr val="7030A0"/>
                </a:solidFill>
                <a:latin typeface="Cascadia Code SemiBold" panose="020B0609020000020004" pitchFamily="49" charset="0"/>
                <a:cs typeface="Cascadia Code SemiBold" panose="020B0609020000020004" pitchFamily="49" charset="0"/>
              </a:rPr>
              <a:t> </a:t>
            </a:r>
            <a:r>
              <a:rPr lang="fr-FR" sz="2400" u="sng" dirty="0">
                <a:solidFill>
                  <a:srgbClr val="FF0000"/>
                </a:solidFill>
                <a:latin typeface="Cascadia Code SemiBold" panose="020B0609020000020004" pitchFamily="49" charset="0"/>
                <a:cs typeface="Cascadia Code SemiBold" panose="020B0609020000020004" pitchFamily="49" charset="0"/>
              </a:rPr>
              <a:t>E</a:t>
            </a:r>
            <a:r>
              <a:rPr lang="fr-FR" sz="2400" u="sng" dirty="0">
                <a:solidFill>
                  <a:srgbClr val="7030A0"/>
                </a:solidFill>
                <a:latin typeface="Cascadia Code SemiBold" panose="020B0609020000020004" pitchFamily="49" charset="0"/>
                <a:cs typeface="Cascadia Code SemiBold" panose="020B0609020000020004" pitchFamily="49" charset="0"/>
              </a:rPr>
              <a:t>xtraction pour les Festivals</a:t>
            </a:r>
            <a:br>
              <a:rPr lang="fr-BE" sz="2400" dirty="0">
                <a:latin typeface="Cascadia Code SemiBold" panose="020B0609020000020004" pitchFamily="49" charset="0"/>
                <a:cs typeface="Cascadia Code SemiBold" panose="020B0609020000020004" pitchFamily="49" charset="0"/>
              </a:rPr>
            </a:br>
            <a:endParaRPr lang="fr-BE" sz="2400" dirty="0">
              <a:latin typeface="Cascadia Code SemiBold" panose="020B0609020000020004" pitchFamily="49" charset="0"/>
              <a:cs typeface="Cascadia Code SemiBold" panose="020B0609020000020004" pitchFamily="49" charset="0"/>
            </a:endParaRPr>
          </a:p>
        </p:txBody>
      </p:sp>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855065" y="561307"/>
            <a:ext cx="8870049" cy="689450"/>
          </a:xfrm>
        </p:spPr>
        <p:txBody>
          <a:bodyPr>
            <a:noAutofit/>
          </a:bodyPr>
          <a:lstStyle/>
          <a:p>
            <a:pPr algn="l"/>
            <a:r>
              <a:rPr lang="fr-FR" sz="1600" dirty="0" err="1">
                <a:solidFill>
                  <a:schemeClr val="tx1"/>
                </a:solidFill>
                <a:latin typeface="Cascadia Code SemiBold" panose="020B0609020000020004" pitchFamily="49" charset="0"/>
                <a:cs typeface="Cascadia Code SemiBold" panose="020B0609020000020004" pitchFamily="49" charset="0"/>
              </a:rPr>
              <a:t>Scrapping</a:t>
            </a:r>
            <a:r>
              <a:rPr lang="fr-FR" sz="1600" dirty="0">
                <a:solidFill>
                  <a:schemeClr val="tx1"/>
                </a:solidFill>
                <a:latin typeface="Cascadia Code SemiBold" panose="020B0609020000020004" pitchFamily="49" charset="0"/>
                <a:cs typeface="Cascadia Code SemiBold" panose="020B0609020000020004" pitchFamily="49" charset="0"/>
              </a:rPr>
              <a:t> via https://webscraper.io/  </a:t>
            </a:r>
            <a:br>
              <a:rPr lang="fr-FR" sz="1600" dirty="0">
                <a:latin typeface="Cascadia Code SemiBold" panose="020B0609020000020004" pitchFamily="49" charset="0"/>
                <a:cs typeface="Cascadia Code SemiBold" panose="020B0609020000020004" pitchFamily="49" charset="0"/>
              </a:rPr>
            </a:br>
            <a:br>
              <a:rPr lang="fr-FR" sz="1600" dirty="0">
                <a:latin typeface="Cascadia Code SemiBold" panose="020B0609020000020004" pitchFamily="49" charset="0"/>
                <a:cs typeface="Cascadia Code SemiBold" panose="020B0609020000020004" pitchFamily="49" charset="0"/>
              </a:rPr>
            </a:br>
            <a:r>
              <a:rPr lang="fr-BE" sz="1600" b="1" dirty="0">
                <a:solidFill>
                  <a:schemeClr val="accent2"/>
                </a:solidFill>
                <a:latin typeface="Cascadia Code SemiBold" panose="020B0609020000020004" pitchFamily="49" charset="0"/>
                <a:cs typeface="Cascadia Code SemiBold" panose="020B0609020000020004" pitchFamily="49" charset="0"/>
                <a:hlinkClick r:id="rId2">
                  <a:extLst>
                    <a:ext uri="{A12FA001-AC4F-418D-AE19-62706E023703}">
                      <ahyp:hlinkClr xmlns:ahyp="http://schemas.microsoft.com/office/drawing/2018/hyperlinkcolor" val="tx"/>
                    </a:ext>
                  </a:extLst>
                </a:hlinkClick>
              </a:rPr>
              <a:t>https://www.festival-alarm.com/us/Categories/Electronic-music-festivals/(year)/2026</a:t>
            </a:r>
            <a:endParaRPr lang="fr-BE" sz="1600" dirty="0">
              <a:solidFill>
                <a:schemeClr val="accent2"/>
              </a:solidFill>
              <a:latin typeface="Cascadia Code SemiBold" panose="020B0609020000020004" pitchFamily="49" charset="0"/>
              <a:cs typeface="Cascadia Code SemiBold" panose="020B0609020000020004" pitchFamily="49" charset="0"/>
            </a:endParaRPr>
          </a:p>
        </p:txBody>
      </p:sp>
      <p:pic>
        <p:nvPicPr>
          <p:cNvPr id="5" name="Image 4">
            <a:extLst>
              <a:ext uri="{FF2B5EF4-FFF2-40B4-BE49-F238E27FC236}">
                <a16:creationId xmlns:a16="http://schemas.microsoft.com/office/drawing/2014/main" id="{32F0D694-E5C9-097D-7954-E65600D4D3E6}"/>
              </a:ext>
            </a:extLst>
          </p:cNvPr>
          <p:cNvPicPr>
            <a:picLocks noChangeAspect="1"/>
          </p:cNvPicPr>
          <p:nvPr/>
        </p:nvPicPr>
        <p:blipFill>
          <a:blip r:embed="rId3"/>
          <a:stretch>
            <a:fillRect/>
          </a:stretch>
        </p:blipFill>
        <p:spPr>
          <a:xfrm>
            <a:off x="106888" y="1635317"/>
            <a:ext cx="11978224" cy="5167649"/>
          </a:xfrm>
          <a:prstGeom prst="rect">
            <a:avLst/>
          </a:prstGeom>
        </p:spPr>
      </p:pic>
    </p:spTree>
    <p:extLst>
      <p:ext uri="{BB962C8B-B14F-4D97-AF65-F5344CB8AC3E}">
        <p14:creationId xmlns:p14="http://schemas.microsoft.com/office/powerpoint/2010/main" val="2186902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301968" y="94004"/>
            <a:ext cx="7604566" cy="897309"/>
          </a:xfrm>
        </p:spPr>
        <p:txBody>
          <a:bodyPr/>
          <a:lstStyle/>
          <a:p>
            <a:pPr algn="l"/>
            <a:r>
              <a:rPr lang="fr-FR" sz="2400" u="sng" dirty="0" err="1">
                <a:solidFill>
                  <a:srgbClr val="7030A0"/>
                </a:solidFill>
                <a:latin typeface="Cascadia Code SemiBold" panose="020B0609020000020004" pitchFamily="49" charset="0"/>
                <a:cs typeface="Cascadia Code SemiBold" panose="020B0609020000020004" pitchFamily="49" charset="0"/>
              </a:rPr>
              <a:t>E</a:t>
            </a:r>
            <a:r>
              <a:rPr lang="fr-FR" sz="2400" u="sng" dirty="0" err="1">
                <a:solidFill>
                  <a:srgbClr val="FF0000"/>
                </a:solidFill>
                <a:latin typeface="Cascadia Code SemiBold" panose="020B0609020000020004" pitchFamily="49" charset="0"/>
                <a:cs typeface="Cascadia Code SemiBold" panose="020B0609020000020004" pitchFamily="49" charset="0"/>
              </a:rPr>
              <a:t>T</a:t>
            </a:r>
            <a:r>
              <a:rPr lang="fr-FR" sz="2400" u="sng" dirty="0" err="1">
                <a:solidFill>
                  <a:srgbClr val="7030A0"/>
                </a:solidFill>
                <a:latin typeface="Cascadia Code SemiBold" panose="020B0609020000020004" pitchFamily="49" charset="0"/>
                <a:cs typeface="Cascadia Code SemiBold" panose="020B0609020000020004" pitchFamily="49" charset="0"/>
              </a:rPr>
              <a:t>L:Data</a:t>
            </a:r>
            <a:r>
              <a:rPr lang="fr-FR" sz="2400" u="sng" dirty="0">
                <a:solidFill>
                  <a:srgbClr val="7030A0"/>
                </a:solidFill>
                <a:latin typeface="Cascadia Code SemiBold" panose="020B0609020000020004" pitchFamily="49" charset="0"/>
                <a:cs typeface="Cascadia Code SemiBold" panose="020B0609020000020004" pitchFamily="49" charset="0"/>
              </a:rPr>
              <a:t> </a:t>
            </a:r>
            <a:r>
              <a:rPr lang="fr-FR" sz="2400" u="sng" dirty="0">
                <a:solidFill>
                  <a:srgbClr val="FF0000"/>
                </a:solidFill>
                <a:latin typeface="Cascadia Code SemiBold" panose="020B0609020000020004" pitchFamily="49" charset="0"/>
                <a:cs typeface="Cascadia Code SemiBold" panose="020B0609020000020004" pitchFamily="49" charset="0"/>
              </a:rPr>
              <a:t>T</a:t>
            </a:r>
            <a:r>
              <a:rPr lang="fr-FR" sz="2400" u="sng" dirty="0">
                <a:solidFill>
                  <a:srgbClr val="7030A0"/>
                </a:solidFill>
                <a:latin typeface="Cascadia Code SemiBold" panose="020B0609020000020004" pitchFamily="49" charset="0"/>
                <a:cs typeface="Cascadia Code SemiBold" panose="020B0609020000020004" pitchFamily="49" charset="0"/>
              </a:rPr>
              <a:t>ransformation (</a:t>
            </a:r>
            <a:r>
              <a:rPr lang="fr-FR" sz="2400" u="sng" dirty="0" err="1">
                <a:solidFill>
                  <a:srgbClr val="7030A0"/>
                </a:solidFill>
                <a:latin typeface="Cascadia Code SemiBold" panose="020B0609020000020004" pitchFamily="49" charset="0"/>
                <a:cs typeface="Cascadia Code SemiBold" panose="020B0609020000020004" pitchFamily="49" charset="0"/>
              </a:rPr>
              <a:t>Staging</a:t>
            </a:r>
            <a:r>
              <a:rPr lang="fr-FR" sz="2400" u="sng" dirty="0">
                <a:solidFill>
                  <a:srgbClr val="7030A0"/>
                </a:solidFill>
                <a:latin typeface="Cascadia Code SemiBold" panose="020B0609020000020004" pitchFamily="49" charset="0"/>
                <a:cs typeface="Cascadia Code SemiBold" panose="020B0609020000020004" pitchFamily="49" charset="0"/>
              </a:rPr>
              <a:t>)</a:t>
            </a:r>
            <a:br>
              <a:rPr lang="fr-BE" sz="2400" dirty="0">
                <a:latin typeface="Cascadia Code SemiBold" panose="020B0609020000020004" pitchFamily="49" charset="0"/>
                <a:cs typeface="Cascadia Code SemiBold" panose="020B0609020000020004" pitchFamily="49" charset="0"/>
              </a:rPr>
            </a:br>
            <a:endParaRPr lang="fr-BE" sz="2400" b="1" dirty="0">
              <a:latin typeface="Cascadia Code SemiBold" panose="020B0609020000020004" pitchFamily="49" charset="0"/>
              <a:cs typeface="Cascadia Code SemiBold" panose="020B0609020000020004" pitchFamily="49" charset="0"/>
            </a:endParaRPr>
          </a:p>
        </p:txBody>
      </p:sp>
      <p:sp>
        <p:nvSpPr>
          <p:cNvPr id="3" name="Sous-titre 2">
            <a:extLst>
              <a:ext uri="{FF2B5EF4-FFF2-40B4-BE49-F238E27FC236}">
                <a16:creationId xmlns:a16="http://schemas.microsoft.com/office/drawing/2014/main" id="{86994032-B748-6504-7B9F-91E6C65D7105}"/>
              </a:ext>
            </a:extLst>
          </p:cNvPr>
          <p:cNvSpPr>
            <a:spLocks noGrp="1"/>
          </p:cNvSpPr>
          <p:nvPr>
            <p:ph type="subTitle" idx="1"/>
          </p:nvPr>
        </p:nvSpPr>
        <p:spPr>
          <a:xfrm>
            <a:off x="1139598" y="1059805"/>
            <a:ext cx="7766936" cy="2681500"/>
          </a:xfrm>
        </p:spPr>
        <p:txBody>
          <a:bodyPr>
            <a:noAutofit/>
          </a:bodyPr>
          <a:lstStyle/>
          <a:p>
            <a:pPr algn="l" rtl="0">
              <a:buChar char=" "/>
            </a:pPr>
            <a:r>
              <a:rPr lang="fr-FR" sz="1600" b="1" u="sng" dirty="0">
                <a:solidFill>
                  <a:schemeClr val="tx1"/>
                </a:solidFill>
                <a:latin typeface="Cascadia Code SemiBold" panose="020B0609020000020004" pitchFamily="49" charset="0"/>
                <a:cs typeface="Cascadia Code SemiBold" panose="020B0609020000020004" pitchFamily="49" charset="0"/>
              </a:rPr>
              <a:t>Power </a:t>
            </a:r>
            <a:r>
              <a:rPr lang="fr-FR" sz="1600" b="1" u="sng" dirty="0" err="1">
                <a:solidFill>
                  <a:schemeClr val="tx1"/>
                </a:solidFill>
                <a:latin typeface="Cascadia Code SemiBold" panose="020B0609020000020004" pitchFamily="49" charset="0"/>
                <a:cs typeface="Cascadia Code SemiBold" panose="020B0609020000020004" pitchFamily="49" charset="0"/>
              </a:rPr>
              <a:t>Query</a:t>
            </a:r>
            <a:r>
              <a:rPr lang="fr-FR" sz="1600" b="1" dirty="0">
                <a:solidFill>
                  <a:schemeClr val="tx1"/>
                </a:solidFill>
                <a:latin typeface="Cascadia Code SemiBold" panose="020B0609020000020004" pitchFamily="49" charset="0"/>
                <a:cs typeface="Cascadia Code SemiBold" panose="020B0609020000020004" pitchFamily="49" charset="0"/>
              </a:rPr>
              <a:t>:</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Supprimer colonnes inutiles</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Nettoyer valeurs nulles</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Convertir les types</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Renommer les colonnes</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Ajouter colonnes calculées</a:t>
            </a:r>
          </a:p>
          <a:p>
            <a:pPr marL="285750" indent="-285750" algn="l" rtl="0">
              <a:buFont typeface="Arial" panose="020B0604020202020204" pitchFamily="34" charset="0"/>
              <a:buChar char="•"/>
            </a:pPr>
            <a:r>
              <a:rPr lang="fr-FR" sz="1600" b="1" i="0" u="none" strike="noStrike" baseline="0" dirty="0">
                <a:solidFill>
                  <a:schemeClr val="tx1"/>
                </a:solidFill>
                <a:latin typeface="Cascadia Code SemiBold" panose="020B0609020000020004" pitchFamily="49" charset="0"/>
                <a:cs typeface="Cascadia Code SemiBold" panose="020B0609020000020004" pitchFamily="49" charset="0"/>
              </a:rPr>
              <a:t>Filtrer les genres (Techno / House / EDM)</a:t>
            </a:r>
            <a:endParaRPr lang="fr-BE" sz="1600" b="1" dirty="0">
              <a:solidFill>
                <a:schemeClr val="tx1"/>
              </a:solidFill>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849752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908860" y="231213"/>
            <a:ext cx="3748597" cy="466852"/>
          </a:xfrm>
        </p:spPr>
        <p:txBody>
          <a:bodyPr/>
          <a:lstStyle/>
          <a:p>
            <a:pPr algn="l"/>
            <a:r>
              <a:rPr lang="fr-FR" sz="2400" b="1" u="sng" dirty="0" err="1">
                <a:solidFill>
                  <a:srgbClr val="7030A0"/>
                </a:solidFill>
                <a:latin typeface="Cascadia Code SemiBold" panose="020B0609020000020004" pitchFamily="49" charset="0"/>
                <a:cs typeface="Cascadia Code SemiBold" panose="020B0609020000020004" pitchFamily="49" charset="0"/>
              </a:rPr>
              <a:t>Dataset</a:t>
            </a:r>
            <a:r>
              <a:rPr lang="fr-FR" sz="2400" b="1" u="sng" dirty="0">
                <a:solidFill>
                  <a:srgbClr val="7030A0"/>
                </a:solidFill>
                <a:latin typeface="Cascadia Code SemiBold" panose="020B0609020000020004" pitchFamily="49" charset="0"/>
                <a:cs typeface="Cascadia Code SemiBold" panose="020B0609020000020004" pitchFamily="49" charset="0"/>
              </a:rPr>
              <a:t> Spotify</a:t>
            </a:r>
            <a:r>
              <a:rPr lang="fr-FR" sz="2400" b="1" dirty="0">
                <a:solidFill>
                  <a:srgbClr val="7030A0"/>
                </a:solidFill>
                <a:latin typeface="Cascadia Code SemiBold" panose="020B0609020000020004" pitchFamily="49" charset="0"/>
                <a:cs typeface="Cascadia Code SemiBold" panose="020B0609020000020004" pitchFamily="49" charset="0"/>
              </a:rPr>
              <a:t>:</a:t>
            </a:r>
            <a:endParaRPr lang="fr-BE" sz="2400" b="1" dirty="0">
              <a:solidFill>
                <a:srgbClr val="7030A0"/>
              </a:solidFill>
              <a:latin typeface="Cascadia Code SemiBold" panose="020B0609020000020004" pitchFamily="49" charset="0"/>
              <a:cs typeface="Cascadia Code SemiBold" panose="020B0609020000020004" pitchFamily="49" charset="0"/>
            </a:endParaRPr>
          </a:p>
        </p:txBody>
      </p:sp>
      <p:pic>
        <p:nvPicPr>
          <p:cNvPr id="4" name="Image 3">
            <a:extLst>
              <a:ext uri="{FF2B5EF4-FFF2-40B4-BE49-F238E27FC236}">
                <a16:creationId xmlns:a16="http://schemas.microsoft.com/office/drawing/2014/main" id="{2E6E346D-13E2-FE74-003D-4DF84EDB3850}"/>
              </a:ext>
            </a:extLst>
          </p:cNvPr>
          <p:cNvPicPr>
            <a:picLocks noChangeAspect="1"/>
          </p:cNvPicPr>
          <p:nvPr/>
        </p:nvPicPr>
        <p:blipFill>
          <a:blip r:embed="rId2"/>
          <a:stretch>
            <a:fillRect/>
          </a:stretch>
        </p:blipFill>
        <p:spPr>
          <a:xfrm>
            <a:off x="387247" y="918405"/>
            <a:ext cx="11269215" cy="5474956"/>
          </a:xfrm>
          <a:prstGeom prst="rect">
            <a:avLst/>
          </a:prstGeom>
        </p:spPr>
      </p:pic>
    </p:spTree>
    <p:extLst>
      <p:ext uri="{BB962C8B-B14F-4D97-AF65-F5344CB8AC3E}">
        <p14:creationId xmlns:p14="http://schemas.microsoft.com/office/powerpoint/2010/main" val="2931619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62685" y="196552"/>
            <a:ext cx="7209644" cy="359053"/>
          </a:xfrm>
        </p:spPr>
        <p:txBody>
          <a:bodyPr/>
          <a:lstStyle/>
          <a:p>
            <a:pPr algn="l"/>
            <a:r>
              <a:rPr lang="fr-FR" sz="2400" b="1" u="sng" dirty="0">
                <a:solidFill>
                  <a:srgbClr val="7030A0"/>
                </a:solidFill>
                <a:latin typeface="Cascadia Code SemiBold" panose="020B0609020000020004" pitchFamily="49" charset="0"/>
                <a:cs typeface="Cascadia Code SemiBold" panose="020B0609020000020004" pitchFamily="49" charset="0"/>
              </a:rPr>
              <a:t>Script M pour Spotify en Power </a:t>
            </a:r>
            <a:r>
              <a:rPr lang="fr-FR" sz="2400" b="1" u="sng" dirty="0" err="1">
                <a:solidFill>
                  <a:srgbClr val="7030A0"/>
                </a:solidFill>
                <a:latin typeface="Cascadia Code SemiBold" panose="020B0609020000020004" pitchFamily="49" charset="0"/>
                <a:cs typeface="Cascadia Code SemiBold" panose="020B0609020000020004" pitchFamily="49" charset="0"/>
              </a:rPr>
              <a:t>Query</a:t>
            </a:r>
            <a:r>
              <a:rPr lang="fr-FR" sz="2400" b="1" dirty="0">
                <a:solidFill>
                  <a:srgbClr val="7030A0"/>
                </a:solidFill>
                <a:latin typeface="Cascadia Code SemiBold" panose="020B0609020000020004" pitchFamily="49" charset="0"/>
                <a:cs typeface="Cascadia Code SemiBold" panose="020B0609020000020004" pitchFamily="49" charset="0"/>
              </a:rPr>
              <a:t>:</a:t>
            </a:r>
            <a:endParaRPr lang="fr-BE" sz="2400" b="1" dirty="0">
              <a:solidFill>
                <a:srgbClr val="7030A0"/>
              </a:solidFill>
              <a:latin typeface="Cascadia Code SemiBold" panose="020B0609020000020004" pitchFamily="49" charset="0"/>
              <a:cs typeface="Cascadia Code SemiBold" panose="020B0609020000020004" pitchFamily="49" charset="0"/>
            </a:endParaRPr>
          </a:p>
        </p:txBody>
      </p:sp>
      <p:pic>
        <p:nvPicPr>
          <p:cNvPr id="7" name="Image 6">
            <a:extLst>
              <a:ext uri="{FF2B5EF4-FFF2-40B4-BE49-F238E27FC236}">
                <a16:creationId xmlns:a16="http://schemas.microsoft.com/office/drawing/2014/main" id="{ADE2AD63-00BE-3786-71FE-94135460AE14}"/>
              </a:ext>
            </a:extLst>
          </p:cNvPr>
          <p:cNvPicPr>
            <a:picLocks noChangeAspect="1"/>
          </p:cNvPicPr>
          <p:nvPr/>
        </p:nvPicPr>
        <p:blipFill>
          <a:blip r:embed="rId2"/>
          <a:stretch>
            <a:fillRect/>
          </a:stretch>
        </p:blipFill>
        <p:spPr>
          <a:xfrm>
            <a:off x="299103" y="662007"/>
            <a:ext cx="11220628" cy="6050844"/>
          </a:xfrm>
          <a:prstGeom prst="rect">
            <a:avLst/>
          </a:prstGeom>
        </p:spPr>
      </p:pic>
    </p:spTree>
    <p:extLst>
      <p:ext uri="{BB962C8B-B14F-4D97-AF65-F5344CB8AC3E}">
        <p14:creationId xmlns:p14="http://schemas.microsoft.com/office/powerpoint/2010/main" val="2368230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898670EE-26A7-7E58-C315-9782A0E3F14F}"/>
              </a:ext>
            </a:extLst>
          </p:cNvPr>
          <p:cNvPicPr>
            <a:picLocks noChangeAspect="1"/>
          </p:cNvPicPr>
          <p:nvPr/>
        </p:nvPicPr>
        <p:blipFill>
          <a:blip r:embed="rId2"/>
          <a:stretch>
            <a:fillRect/>
          </a:stretch>
        </p:blipFill>
        <p:spPr>
          <a:xfrm>
            <a:off x="640451" y="784459"/>
            <a:ext cx="11092925" cy="6000239"/>
          </a:xfrm>
          <a:prstGeom prst="rect">
            <a:avLst/>
          </a:prstGeom>
        </p:spPr>
      </p:pic>
      <p:sp>
        <p:nvSpPr>
          <p:cNvPr id="5" name="Titre 1">
            <a:extLst>
              <a:ext uri="{FF2B5EF4-FFF2-40B4-BE49-F238E27FC236}">
                <a16:creationId xmlns:a16="http://schemas.microsoft.com/office/drawing/2014/main" id="{AD561A13-FCB0-F597-C619-94F8A5469A66}"/>
              </a:ext>
            </a:extLst>
          </p:cNvPr>
          <p:cNvSpPr>
            <a:spLocks noGrp="1"/>
          </p:cNvSpPr>
          <p:nvPr>
            <p:ph type="ctrTitle"/>
          </p:nvPr>
        </p:nvSpPr>
        <p:spPr>
          <a:xfrm>
            <a:off x="908860" y="231213"/>
            <a:ext cx="3748597" cy="466852"/>
          </a:xfrm>
        </p:spPr>
        <p:txBody>
          <a:bodyPr/>
          <a:lstStyle/>
          <a:p>
            <a:pPr algn="l"/>
            <a:r>
              <a:rPr lang="fr-FR" sz="2400" b="1" u="sng" dirty="0" err="1">
                <a:solidFill>
                  <a:srgbClr val="7030A0"/>
                </a:solidFill>
                <a:latin typeface="Cascadia Code SemiBold" panose="020B0609020000020004" pitchFamily="49" charset="0"/>
                <a:cs typeface="Cascadia Code SemiBold" panose="020B0609020000020004" pitchFamily="49" charset="0"/>
              </a:rPr>
              <a:t>Dataset</a:t>
            </a:r>
            <a:r>
              <a:rPr lang="fr-FR" sz="2400" b="1" u="sng" dirty="0">
                <a:solidFill>
                  <a:srgbClr val="7030A0"/>
                </a:solidFill>
                <a:latin typeface="Cascadia Code SemiBold" panose="020B0609020000020004" pitchFamily="49" charset="0"/>
                <a:cs typeface="Cascadia Code SemiBold" panose="020B0609020000020004" pitchFamily="49" charset="0"/>
              </a:rPr>
              <a:t> Festivals</a:t>
            </a:r>
            <a:r>
              <a:rPr lang="fr-FR" sz="2400" b="1" dirty="0">
                <a:solidFill>
                  <a:srgbClr val="7030A0"/>
                </a:solidFill>
                <a:latin typeface="Cascadia Code SemiBold" panose="020B0609020000020004" pitchFamily="49" charset="0"/>
                <a:cs typeface="Cascadia Code SemiBold" panose="020B0609020000020004" pitchFamily="49" charset="0"/>
              </a:rPr>
              <a:t>:</a:t>
            </a:r>
            <a:endParaRPr lang="fr-BE" sz="2400" b="1" dirty="0">
              <a:solidFill>
                <a:srgbClr val="7030A0"/>
              </a:solidFill>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1772213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11410" y="128185"/>
            <a:ext cx="7893308" cy="359053"/>
          </a:xfrm>
        </p:spPr>
        <p:txBody>
          <a:bodyPr/>
          <a:lstStyle/>
          <a:p>
            <a:pPr algn="l"/>
            <a:r>
              <a:rPr lang="fr-FR" sz="2400" b="1" u="sng" dirty="0">
                <a:solidFill>
                  <a:srgbClr val="7030A0"/>
                </a:solidFill>
                <a:latin typeface="Cascadia Code SemiBold" panose="020B0609020000020004" pitchFamily="49" charset="0"/>
                <a:cs typeface="Cascadia Code SemiBold" panose="020B0609020000020004" pitchFamily="49" charset="0"/>
              </a:rPr>
              <a:t>Script M pour Festivals en Power </a:t>
            </a:r>
            <a:r>
              <a:rPr lang="fr-FR" sz="2400" b="1" u="sng" dirty="0" err="1">
                <a:solidFill>
                  <a:srgbClr val="7030A0"/>
                </a:solidFill>
                <a:latin typeface="Cascadia Code SemiBold" panose="020B0609020000020004" pitchFamily="49" charset="0"/>
                <a:cs typeface="Cascadia Code SemiBold" panose="020B0609020000020004" pitchFamily="49" charset="0"/>
              </a:rPr>
              <a:t>Query</a:t>
            </a:r>
            <a:r>
              <a:rPr lang="fr-FR" sz="2400" b="1" dirty="0">
                <a:solidFill>
                  <a:srgbClr val="7030A0"/>
                </a:solidFill>
                <a:latin typeface="Cascadia Code SemiBold" panose="020B0609020000020004" pitchFamily="49" charset="0"/>
                <a:cs typeface="Cascadia Code SemiBold" panose="020B0609020000020004" pitchFamily="49" charset="0"/>
              </a:rPr>
              <a:t>:</a:t>
            </a:r>
            <a:endParaRPr lang="fr-BE" sz="2400" b="1" dirty="0">
              <a:solidFill>
                <a:srgbClr val="7030A0"/>
              </a:solidFill>
              <a:latin typeface="Cascadia Code SemiBold" panose="020B0609020000020004" pitchFamily="49" charset="0"/>
              <a:cs typeface="Cascadia Code SemiBold" panose="020B0609020000020004" pitchFamily="49" charset="0"/>
            </a:endParaRPr>
          </a:p>
        </p:txBody>
      </p:sp>
      <p:pic>
        <p:nvPicPr>
          <p:cNvPr id="4" name="Image 3">
            <a:extLst>
              <a:ext uri="{FF2B5EF4-FFF2-40B4-BE49-F238E27FC236}">
                <a16:creationId xmlns:a16="http://schemas.microsoft.com/office/drawing/2014/main" id="{04525F6F-6EA7-8359-512E-67F288D79E06}"/>
              </a:ext>
            </a:extLst>
          </p:cNvPr>
          <p:cNvPicPr>
            <a:picLocks noChangeAspect="1"/>
          </p:cNvPicPr>
          <p:nvPr/>
        </p:nvPicPr>
        <p:blipFill>
          <a:blip r:embed="rId2"/>
          <a:stretch>
            <a:fillRect/>
          </a:stretch>
        </p:blipFill>
        <p:spPr>
          <a:xfrm>
            <a:off x="682800" y="487238"/>
            <a:ext cx="10012120" cy="6302395"/>
          </a:xfrm>
          <a:prstGeom prst="rect">
            <a:avLst/>
          </a:prstGeom>
        </p:spPr>
      </p:pic>
    </p:spTree>
    <p:extLst>
      <p:ext uri="{BB962C8B-B14F-4D97-AF65-F5344CB8AC3E}">
        <p14:creationId xmlns:p14="http://schemas.microsoft.com/office/powerpoint/2010/main" val="14290068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874677" y="111094"/>
            <a:ext cx="9542646" cy="359053"/>
          </a:xfrm>
        </p:spPr>
        <p:txBody>
          <a:bodyPr/>
          <a:lstStyle/>
          <a:p>
            <a:pPr algn="l"/>
            <a:r>
              <a:rPr lang="fr-FR" sz="2400" u="sng" dirty="0" err="1">
                <a:solidFill>
                  <a:srgbClr val="7030A0"/>
                </a:solidFill>
                <a:latin typeface="Cascadia Code SemiBold" panose="020B0609020000020004" pitchFamily="49" charset="0"/>
                <a:cs typeface="Cascadia Code SemiBold" panose="020B0609020000020004" pitchFamily="49" charset="0"/>
              </a:rPr>
              <a:t>ET</a:t>
            </a:r>
            <a:r>
              <a:rPr lang="fr-FR" sz="2400" u="sng" dirty="0" err="1">
                <a:solidFill>
                  <a:srgbClr val="FF0000"/>
                </a:solidFill>
                <a:latin typeface="Cascadia Code SemiBold" panose="020B0609020000020004" pitchFamily="49" charset="0"/>
                <a:cs typeface="Cascadia Code SemiBold" panose="020B0609020000020004" pitchFamily="49" charset="0"/>
              </a:rPr>
              <a:t>L</a:t>
            </a:r>
            <a:r>
              <a:rPr lang="fr-FR" sz="2400" u="sng" dirty="0" err="1">
                <a:solidFill>
                  <a:srgbClr val="7030A0"/>
                </a:solidFill>
                <a:latin typeface="Cascadia Code SemiBold" panose="020B0609020000020004" pitchFamily="49" charset="0"/>
                <a:cs typeface="Cascadia Code SemiBold" panose="020B0609020000020004" pitchFamily="49" charset="0"/>
              </a:rPr>
              <a:t>:Data</a:t>
            </a:r>
            <a:r>
              <a:rPr lang="fr-FR" sz="2400" u="sng" dirty="0">
                <a:solidFill>
                  <a:srgbClr val="7030A0"/>
                </a:solidFill>
                <a:latin typeface="Cascadia Code SemiBold" panose="020B0609020000020004" pitchFamily="49" charset="0"/>
                <a:cs typeface="Cascadia Code SemiBold" panose="020B0609020000020004" pitchFamily="49" charset="0"/>
              </a:rPr>
              <a:t> </a:t>
            </a:r>
            <a:r>
              <a:rPr lang="fr-FR" sz="2400" u="sng" dirty="0" err="1">
                <a:solidFill>
                  <a:srgbClr val="FF0000"/>
                </a:solidFill>
                <a:latin typeface="Cascadia Code SemiBold" panose="020B0609020000020004" pitchFamily="49" charset="0"/>
                <a:cs typeface="Cascadia Code SemiBold" panose="020B0609020000020004" pitchFamily="49" charset="0"/>
              </a:rPr>
              <a:t>L</a:t>
            </a:r>
            <a:r>
              <a:rPr lang="fr-FR" sz="2400" u="sng" dirty="0" err="1">
                <a:solidFill>
                  <a:srgbClr val="7030A0"/>
                </a:solidFill>
                <a:latin typeface="Cascadia Code SemiBold" panose="020B0609020000020004" pitchFamily="49" charset="0"/>
                <a:cs typeface="Cascadia Code SemiBold" panose="020B0609020000020004" pitchFamily="49" charset="0"/>
              </a:rPr>
              <a:t>oad</a:t>
            </a:r>
            <a:r>
              <a:rPr lang="fr-FR" sz="2400" u="sng" dirty="0">
                <a:solidFill>
                  <a:srgbClr val="7030A0"/>
                </a:solidFill>
                <a:latin typeface="Cascadia Code SemiBold" panose="020B0609020000020004" pitchFamily="49" charset="0"/>
                <a:cs typeface="Cascadia Code SemiBold" panose="020B0609020000020004" pitchFamily="49" charset="0"/>
              </a:rPr>
              <a:t> (chargement vers Data Warehouse)</a:t>
            </a:r>
            <a:r>
              <a:rPr lang="fr-FR" sz="2400" dirty="0">
                <a:solidFill>
                  <a:srgbClr val="7030A0"/>
                </a:solidFill>
                <a:latin typeface="Cascadia Code SemiBold" panose="020B0609020000020004" pitchFamily="49" charset="0"/>
                <a:cs typeface="Cascadia Code SemiBold" panose="020B0609020000020004" pitchFamily="49" charset="0"/>
              </a:rPr>
              <a:t>:</a:t>
            </a:r>
            <a:endParaRPr lang="fr-BE" sz="2400" b="1" dirty="0">
              <a:solidFill>
                <a:srgbClr val="7030A0"/>
              </a:solidFill>
              <a:latin typeface="Cascadia Code SemiBold" panose="020B0609020000020004" pitchFamily="49" charset="0"/>
              <a:cs typeface="Cascadia Code SemiBold" panose="020B0609020000020004" pitchFamily="49" charset="0"/>
            </a:endParaRPr>
          </a:p>
        </p:txBody>
      </p:sp>
      <p:pic>
        <p:nvPicPr>
          <p:cNvPr id="6" name="Image 5">
            <a:extLst>
              <a:ext uri="{FF2B5EF4-FFF2-40B4-BE49-F238E27FC236}">
                <a16:creationId xmlns:a16="http://schemas.microsoft.com/office/drawing/2014/main" id="{54F8FE7D-02AB-135A-4D71-57EB36BE8239}"/>
              </a:ext>
            </a:extLst>
          </p:cNvPr>
          <p:cNvPicPr>
            <a:picLocks noChangeAspect="1"/>
          </p:cNvPicPr>
          <p:nvPr/>
        </p:nvPicPr>
        <p:blipFill>
          <a:blip r:embed="rId2"/>
          <a:stretch>
            <a:fillRect/>
          </a:stretch>
        </p:blipFill>
        <p:spPr>
          <a:xfrm>
            <a:off x="520197" y="512617"/>
            <a:ext cx="11102083" cy="6013628"/>
          </a:xfrm>
          <a:prstGeom prst="rect">
            <a:avLst/>
          </a:prstGeom>
        </p:spPr>
      </p:pic>
    </p:spTree>
    <p:extLst>
      <p:ext uri="{BB962C8B-B14F-4D97-AF65-F5344CB8AC3E}">
        <p14:creationId xmlns:p14="http://schemas.microsoft.com/office/powerpoint/2010/main" val="22354121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43854" y="68366"/>
            <a:ext cx="11904292" cy="538386"/>
          </a:xfrm>
        </p:spPr>
        <p:txBody>
          <a:bodyPr/>
          <a:lstStyle/>
          <a:p>
            <a:pPr algn="l"/>
            <a:r>
              <a:rPr lang="fr-BE" sz="2400" u="sng" dirty="0">
                <a:solidFill>
                  <a:srgbClr val="7030A0"/>
                </a:solidFill>
                <a:latin typeface="Cascadia Code SemiBold" panose="020B0609020000020004" pitchFamily="49" charset="0"/>
                <a:cs typeface="Cascadia Code SemiBold" panose="020B0609020000020004" pitchFamily="49" charset="0"/>
              </a:rPr>
              <a:t>Data Warehouse – Modèle dimensionnel (Star/</a:t>
            </a:r>
            <a:r>
              <a:rPr lang="fr-BE" sz="2400" u="sng" dirty="0" err="1">
                <a:solidFill>
                  <a:srgbClr val="7030A0"/>
                </a:solidFill>
                <a:latin typeface="Cascadia Code SemiBold" panose="020B0609020000020004" pitchFamily="49" charset="0"/>
                <a:cs typeface="Cascadia Code SemiBold" panose="020B0609020000020004" pitchFamily="49" charset="0"/>
              </a:rPr>
              <a:t>Snowflake</a:t>
            </a:r>
            <a:r>
              <a:rPr lang="fr-BE" sz="2400" u="sng" dirty="0">
                <a:solidFill>
                  <a:srgbClr val="7030A0"/>
                </a:solidFill>
                <a:latin typeface="Cascadia Code SemiBold" panose="020B0609020000020004" pitchFamily="49" charset="0"/>
                <a:cs typeface="Cascadia Code SemiBold" panose="020B0609020000020004" pitchFamily="49" charset="0"/>
              </a:rPr>
              <a:t> schémas):</a:t>
            </a:r>
            <a:endParaRPr lang="fr-BE" sz="2400" b="1" u="sng" dirty="0">
              <a:solidFill>
                <a:srgbClr val="7030A0"/>
              </a:solidFill>
              <a:latin typeface="Cascadia Code SemiBold" panose="020B0609020000020004" pitchFamily="49" charset="0"/>
              <a:cs typeface="Cascadia Code SemiBold" panose="020B0609020000020004" pitchFamily="49" charset="0"/>
            </a:endParaRPr>
          </a:p>
        </p:txBody>
      </p:sp>
      <p:pic>
        <p:nvPicPr>
          <p:cNvPr id="3" name="Image 2">
            <a:extLst>
              <a:ext uri="{FF2B5EF4-FFF2-40B4-BE49-F238E27FC236}">
                <a16:creationId xmlns:a16="http://schemas.microsoft.com/office/drawing/2014/main" id="{90F37997-6B6C-DA4F-D106-C0B9A6A21204}"/>
              </a:ext>
            </a:extLst>
          </p:cNvPr>
          <p:cNvPicPr>
            <a:picLocks noChangeAspect="1"/>
          </p:cNvPicPr>
          <p:nvPr/>
        </p:nvPicPr>
        <p:blipFill>
          <a:blip r:embed="rId2"/>
          <a:stretch>
            <a:fillRect/>
          </a:stretch>
        </p:blipFill>
        <p:spPr>
          <a:xfrm>
            <a:off x="268781" y="606752"/>
            <a:ext cx="11654438" cy="6114516"/>
          </a:xfrm>
          <a:prstGeom prst="rect">
            <a:avLst/>
          </a:prstGeom>
        </p:spPr>
      </p:pic>
    </p:spTree>
    <p:extLst>
      <p:ext uri="{BB962C8B-B14F-4D97-AF65-F5344CB8AC3E}">
        <p14:creationId xmlns:p14="http://schemas.microsoft.com/office/powerpoint/2010/main" val="2618633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634518" y="170914"/>
            <a:ext cx="10038302" cy="359053"/>
          </a:xfrm>
        </p:spPr>
        <p:txBody>
          <a:bodyPr/>
          <a:lstStyle/>
          <a:p>
            <a:pPr algn="l"/>
            <a:r>
              <a:rPr lang="fr-BE" sz="2400" b="1" u="sng" dirty="0" err="1">
                <a:solidFill>
                  <a:srgbClr val="7030A0"/>
                </a:solidFill>
                <a:latin typeface="Cascadia Code SemiBold" panose="020B0609020000020004" pitchFamily="49" charset="0"/>
                <a:cs typeface="Cascadia Code SemiBold" panose="020B0609020000020004" pitchFamily="49" charset="0"/>
              </a:rPr>
              <a:t>Dashboards</a:t>
            </a:r>
            <a:r>
              <a:rPr lang="fr-BE" sz="2400" b="1" u="sng" dirty="0">
                <a:solidFill>
                  <a:srgbClr val="7030A0"/>
                </a:solidFill>
                <a:latin typeface="Cascadia Code SemiBold" panose="020B0609020000020004" pitchFamily="49" charset="0"/>
                <a:cs typeface="Cascadia Code SemiBold" panose="020B0609020000020004" pitchFamily="49" charset="0"/>
              </a:rPr>
              <a:t> en Power BI: Spotify Genres &amp; Popularité</a:t>
            </a:r>
          </a:p>
        </p:txBody>
      </p:sp>
      <p:pic>
        <p:nvPicPr>
          <p:cNvPr id="4" name="Image 3">
            <a:extLst>
              <a:ext uri="{FF2B5EF4-FFF2-40B4-BE49-F238E27FC236}">
                <a16:creationId xmlns:a16="http://schemas.microsoft.com/office/drawing/2014/main" id="{A96DC801-211D-FDDB-C82F-98371F34DC00}"/>
              </a:ext>
            </a:extLst>
          </p:cNvPr>
          <p:cNvPicPr>
            <a:picLocks noChangeAspect="1"/>
          </p:cNvPicPr>
          <p:nvPr/>
        </p:nvPicPr>
        <p:blipFill>
          <a:blip r:embed="rId2"/>
          <a:stretch>
            <a:fillRect/>
          </a:stretch>
        </p:blipFill>
        <p:spPr>
          <a:xfrm>
            <a:off x="982767" y="862551"/>
            <a:ext cx="9341805" cy="5303239"/>
          </a:xfrm>
          <a:prstGeom prst="rect">
            <a:avLst/>
          </a:prstGeom>
        </p:spPr>
      </p:pic>
    </p:spTree>
    <p:extLst>
      <p:ext uri="{BB962C8B-B14F-4D97-AF65-F5344CB8AC3E}">
        <p14:creationId xmlns:p14="http://schemas.microsoft.com/office/powerpoint/2010/main" val="4167345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62685" y="196552"/>
            <a:ext cx="8602608" cy="359053"/>
          </a:xfrm>
        </p:spPr>
        <p:txBody>
          <a:bodyPr/>
          <a:lstStyle/>
          <a:p>
            <a:pPr algn="l"/>
            <a:r>
              <a:rPr lang="fr-BE" sz="2400" b="1" u="sng" dirty="0" err="1">
                <a:solidFill>
                  <a:srgbClr val="7030A0"/>
                </a:solidFill>
                <a:latin typeface="Cascadia Code SemiBold" panose="020B0609020000020004" pitchFamily="49" charset="0"/>
                <a:cs typeface="Cascadia Code SemiBold" panose="020B0609020000020004" pitchFamily="49" charset="0"/>
              </a:rPr>
              <a:t>Dashboards</a:t>
            </a:r>
            <a:r>
              <a:rPr lang="fr-BE" sz="2400" b="1" u="sng" dirty="0">
                <a:solidFill>
                  <a:srgbClr val="7030A0"/>
                </a:solidFill>
                <a:latin typeface="Cascadia Code SemiBold" panose="020B0609020000020004" pitchFamily="49" charset="0"/>
                <a:cs typeface="Cascadia Code SemiBold" panose="020B0609020000020004" pitchFamily="49" charset="0"/>
              </a:rPr>
              <a:t> en Power BI: Spotify </a:t>
            </a:r>
            <a:r>
              <a:rPr lang="fr-BE" sz="2400" b="1" u="sng" dirty="0" err="1">
                <a:solidFill>
                  <a:srgbClr val="7030A0"/>
                </a:solidFill>
                <a:latin typeface="Cascadia Code SemiBold" panose="020B0609020000020004" pitchFamily="49" charset="0"/>
                <a:cs typeface="Cascadia Code SemiBold" panose="020B0609020000020004" pitchFamily="49" charset="0"/>
              </a:rPr>
              <a:t>KPI’s</a:t>
            </a:r>
            <a:endParaRPr lang="fr-BE" sz="2400" b="1" u="sng" dirty="0">
              <a:solidFill>
                <a:srgbClr val="7030A0"/>
              </a:solidFill>
              <a:latin typeface="Cascadia Code SemiBold" panose="020B0609020000020004" pitchFamily="49" charset="0"/>
              <a:cs typeface="Cascadia Code SemiBold" panose="020B0609020000020004" pitchFamily="49" charset="0"/>
            </a:endParaRPr>
          </a:p>
        </p:txBody>
      </p:sp>
      <p:pic>
        <p:nvPicPr>
          <p:cNvPr id="5" name="Image 4">
            <a:extLst>
              <a:ext uri="{FF2B5EF4-FFF2-40B4-BE49-F238E27FC236}">
                <a16:creationId xmlns:a16="http://schemas.microsoft.com/office/drawing/2014/main" id="{65AE31F6-77D3-BB4C-7D66-8B92E834A93B}"/>
              </a:ext>
            </a:extLst>
          </p:cNvPr>
          <p:cNvPicPr>
            <a:picLocks noChangeAspect="1"/>
          </p:cNvPicPr>
          <p:nvPr/>
        </p:nvPicPr>
        <p:blipFill>
          <a:blip r:embed="rId2"/>
          <a:stretch>
            <a:fillRect/>
          </a:stretch>
        </p:blipFill>
        <p:spPr>
          <a:xfrm>
            <a:off x="780674" y="911344"/>
            <a:ext cx="9266685" cy="5198898"/>
          </a:xfrm>
          <a:prstGeom prst="rect">
            <a:avLst/>
          </a:prstGeom>
        </p:spPr>
      </p:pic>
    </p:spTree>
    <p:extLst>
      <p:ext uri="{BB962C8B-B14F-4D97-AF65-F5344CB8AC3E}">
        <p14:creationId xmlns:p14="http://schemas.microsoft.com/office/powerpoint/2010/main" val="2357332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62685" y="196552"/>
            <a:ext cx="8602608" cy="359053"/>
          </a:xfrm>
        </p:spPr>
        <p:txBody>
          <a:bodyPr/>
          <a:lstStyle/>
          <a:p>
            <a:pPr algn="l"/>
            <a:r>
              <a:rPr lang="fr-BE" sz="2400" b="1" u="sng" dirty="0" err="1">
                <a:solidFill>
                  <a:srgbClr val="7030A0"/>
                </a:solidFill>
                <a:latin typeface="Cascadia Code SemiBold" panose="020B0609020000020004" pitchFamily="49" charset="0"/>
                <a:cs typeface="Cascadia Code SemiBold" panose="020B0609020000020004" pitchFamily="49" charset="0"/>
              </a:rPr>
              <a:t>Dashboards</a:t>
            </a:r>
            <a:r>
              <a:rPr lang="fr-BE" sz="2400" b="1" u="sng" dirty="0">
                <a:solidFill>
                  <a:srgbClr val="7030A0"/>
                </a:solidFill>
                <a:latin typeface="Cascadia Code SemiBold" panose="020B0609020000020004" pitchFamily="49" charset="0"/>
                <a:cs typeface="Cascadia Code SemiBold" panose="020B0609020000020004" pitchFamily="49" charset="0"/>
              </a:rPr>
              <a:t> en Power BI: Festivals - Genres</a:t>
            </a:r>
          </a:p>
        </p:txBody>
      </p:sp>
      <p:pic>
        <p:nvPicPr>
          <p:cNvPr id="4" name="Image 3">
            <a:extLst>
              <a:ext uri="{FF2B5EF4-FFF2-40B4-BE49-F238E27FC236}">
                <a16:creationId xmlns:a16="http://schemas.microsoft.com/office/drawing/2014/main" id="{5FE86D57-B366-49B3-8B64-5B778BBE24DB}"/>
              </a:ext>
            </a:extLst>
          </p:cNvPr>
          <p:cNvPicPr>
            <a:picLocks noChangeAspect="1"/>
          </p:cNvPicPr>
          <p:nvPr/>
        </p:nvPicPr>
        <p:blipFill>
          <a:blip r:embed="rId2"/>
          <a:stretch>
            <a:fillRect/>
          </a:stretch>
        </p:blipFill>
        <p:spPr>
          <a:xfrm>
            <a:off x="813015" y="835432"/>
            <a:ext cx="9536297" cy="5342881"/>
          </a:xfrm>
          <a:prstGeom prst="rect">
            <a:avLst/>
          </a:prstGeom>
        </p:spPr>
      </p:pic>
    </p:spTree>
    <p:extLst>
      <p:ext uri="{BB962C8B-B14F-4D97-AF65-F5344CB8AC3E}">
        <p14:creationId xmlns:p14="http://schemas.microsoft.com/office/powerpoint/2010/main" val="36549729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62685" y="196552"/>
            <a:ext cx="8602608" cy="359053"/>
          </a:xfrm>
        </p:spPr>
        <p:txBody>
          <a:bodyPr/>
          <a:lstStyle/>
          <a:p>
            <a:pPr algn="l"/>
            <a:r>
              <a:rPr lang="fr-BE" sz="2400" b="1" u="sng" dirty="0" err="1">
                <a:solidFill>
                  <a:srgbClr val="7030A0"/>
                </a:solidFill>
                <a:latin typeface="Cascadia Code SemiBold" panose="020B0609020000020004" pitchFamily="49" charset="0"/>
                <a:cs typeface="Cascadia Code SemiBold" panose="020B0609020000020004" pitchFamily="49" charset="0"/>
              </a:rPr>
              <a:t>Dashboards</a:t>
            </a:r>
            <a:r>
              <a:rPr lang="fr-BE" sz="2400" b="1" u="sng" dirty="0">
                <a:solidFill>
                  <a:srgbClr val="7030A0"/>
                </a:solidFill>
                <a:latin typeface="Cascadia Code SemiBold" panose="020B0609020000020004" pitchFamily="49" charset="0"/>
                <a:cs typeface="Cascadia Code SemiBold" panose="020B0609020000020004" pitchFamily="49" charset="0"/>
              </a:rPr>
              <a:t> en Power BI: Festival </a:t>
            </a:r>
            <a:r>
              <a:rPr lang="fr-BE" sz="2400" b="1" u="sng" dirty="0" err="1">
                <a:solidFill>
                  <a:srgbClr val="7030A0"/>
                </a:solidFill>
                <a:latin typeface="Cascadia Code SemiBold" panose="020B0609020000020004" pitchFamily="49" charset="0"/>
                <a:cs typeface="Cascadia Code SemiBold" panose="020B0609020000020004" pitchFamily="49" charset="0"/>
              </a:rPr>
              <a:t>KPI’s</a:t>
            </a:r>
            <a:endParaRPr lang="fr-BE" sz="2400" b="1" u="sng" dirty="0">
              <a:solidFill>
                <a:srgbClr val="7030A0"/>
              </a:solidFill>
              <a:latin typeface="Cascadia Code SemiBold" panose="020B0609020000020004" pitchFamily="49" charset="0"/>
              <a:cs typeface="Cascadia Code SemiBold" panose="020B0609020000020004" pitchFamily="49" charset="0"/>
            </a:endParaRPr>
          </a:p>
        </p:txBody>
      </p:sp>
      <p:pic>
        <p:nvPicPr>
          <p:cNvPr id="5" name="Image 4">
            <a:extLst>
              <a:ext uri="{FF2B5EF4-FFF2-40B4-BE49-F238E27FC236}">
                <a16:creationId xmlns:a16="http://schemas.microsoft.com/office/drawing/2014/main" id="{F1196A75-A859-69BF-446E-5E748D752BA8}"/>
              </a:ext>
            </a:extLst>
          </p:cNvPr>
          <p:cNvPicPr>
            <a:picLocks noChangeAspect="1"/>
          </p:cNvPicPr>
          <p:nvPr/>
        </p:nvPicPr>
        <p:blipFill>
          <a:blip r:embed="rId2"/>
          <a:stretch>
            <a:fillRect/>
          </a:stretch>
        </p:blipFill>
        <p:spPr>
          <a:xfrm>
            <a:off x="982767" y="850773"/>
            <a:ext cx="9579392" cy="5409021"/>
          </a:xfrm>
          <a:prstGeom prst="rect">
            <a:avLst/>
          </a:prstGeom>
        </p:spPr>
      </p:pic>
    </p:spTree>
    <p:extLst>
      <p:ext uri="{BB962C8B-B14F-4D97-AF65-F5344CB8AC3E}">
        <p14:creationId xmlns:p14="http://schemas.microsoft.com/office/powerpoint/2010/main" val="3152701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10DFD7-A4F0-254E-8BB7-9335392797B8}"/>
              </a:ext>
            </a:extLst>
          </p:cNvPr>
          <p:cNvSpPr>
            <a:spLocks noGrp="1"/>
          </p:cNvSpPr>
          <p:nvPr>
            <p:ph type="ctrTitle"/>
          </p:nvPr>
        </p:nvSpPr>
        <p:spPr>
          <a:xfrm>
            <a:off x="1062685" y="196552"/>
            <a:ext cx="8602608" cy="359053"/>
          </a:xfrm>
        </p:spPr>
        <p:txBody>
          <a:bodyPr/>
          <a:lstStyle/>
          <a:p>
            <a:pPr algn="l"/>
            <a:r>
              <a:rPr lang="fr-BE" sz="2400" b="1" u="sng" dirty="0" err="1">
                <a:solidFill>
                  <a:srgbClr val="7030A0"/>
                </a:solidFill>
                <a:latin typeface="Cascadia Code SemiBold" panose="020B0609020000020004" pitchFamily="49" charset="0"/>
                <a:cs typeface="Cascadia Code SemiBold" panose="020B0609020000020004" pitchFamily="49" charset="0"/>
              </a:rPr>
              <a:t>Dashboards</a:t>
            </a:r>
            <a:r>
              <a:rPr lang="fr-BE" sz="2400" b="1" u="sng" dirty="0">
                <a:solidFill>
                  <a:srgbClr val="7030A0"/>
                </a:solidFill>
                <a:latin typeface="Cascadia Code SemiBold" panose="020B0609020000020004" pitchFamily="49" charset="0"/>
                <a:cs typeface="Cascadia Code SemiBold" panose="020B0609020000020004" pitchFamily="49" charset="0"/>
              </a:rPr>
              <a:t> en Power BI: Résumé</a:t>
            </a:r>
          </a:p>
        </p:txBody>
      </p:sp>
      <p:pic>
        <p:nvPicPr>
          <p:cNvPr id="4" name="Image 3">
            <a:extLst>
              <a:ext uri="{FF2B5EF4-FFF2-40B4-BE49-F238E27FC236}">
                <a16:creationId xmlns:a16="http://schemas.microsoft.com/office/drawing/2014/main" id="{31085B2E-5C5E-644D-DCA7-FD5256A13410}"/>
              </a:ext>
            </a:extLst>
          </p:cNvPr>
          <p:cNvPicPr>
            <a:picLocks noChangeAspect="1"/>
          </p:cNvPicPr>
          <p:nvPr/>
        </p:nvPicPr>
        <p:blipFill>
          <a:blip r:embed="rId2"/>
          <a:stretch>
            <a:fillRect/>
          </a:stretch>
        </p:blipFill>
        <p:spPr>
          <a:xfrm>
            <a:off x="751090" y="700886"/>
            <a:ext cx="9996512" cy="5670003"/>
          </a:xfrm>
          <a:prstGeom prst="rect">
            <a:avLst/>
          </a:prstGeom>
        </p:spPr>
      </p:pic>
    </p:spTree>
    <p:extLst>
      <p:ext uri="{BB962C8B-B14F-4D97-AF65-F5344CB8AC3E}">
        <p14:creationId xmlns:p14="http://schemas.microsoft.com/office/powerpoint/2010/main" val="606564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72737C-94C3-EAD4-1D14-4664C5BB3272}"/>
              </a:ext>
            </a:extLst>
          </p:cNvPr>
          <p:cNvSpPr>
            <a:spLocks noGrp="1"/>
          </p:cNvSpPr>
          <p:nvPr>
            <p:ph type="ctrTitle"/>
          </p:nvPr>
        </p:nvSpPr>
        <p:spPr>
          <a:xfrm>
            <a:off x="843502" y="938128"/>
            <a:ext cx="7766936" cy="2157631"/>
          </a:xfrm>
        </p:spPr>
        <p:txBody>
          <a:bodyPr/>
          <a:lstStyle/>
          <a:p>
            <a:pPr algn="l">
              <a:lnSpc>
                <a:spcPct val="115000"/>
              </a:lnSpc>
              <a:spcBef>
                <a:spcPts val="1000"/>
              </a:spcBef>
            </a:pP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Le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projet</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démontre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la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capacité</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à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manipuler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des données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hétérogènes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appliquer les concepts BI (ETL,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modèle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dimensionnel</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DAX) et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concevoir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des dashboards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professionnels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L’approche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permet</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d’apporter</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une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vision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claire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et exploitable </a:t>
            </a:r>
            <a:r>
              <a:rPr lang="en-US" sz="1600" b="1" dirty="0">
                <a:solidFill>
                  <a:schemeClr val="tx1"/>
                </a:solidFill>
                <a:latin typeface="Cascadia Code SemiBold" panose="020B0609020000020004" pitchFamily="49" charset="0"/>
                <a:ea typeface="MS Mincho" panose="02020609040205080304" pitchFamily="49" charset="-128"/>
                <a:cs typeface="Cascadia Code SemiBold" panose="020B0609020000020004" pitchFamily="49" charset="0"/>
              </a:rPr>
              <a:t>tant </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de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l’industrie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musicale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électronique</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 que des festivals </a:t>
            </a:r>
            <a:r>
              <a:rPr lang="en-US" sz="1600" b="1" dirty="0" err="1">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européens</a:t>
            </a:r>
            <a:r>
              <a:rPr lang="en-US" sz="1600" b="1" dirty="0">
                <a:solidFill>
                  <a:schemeClr val="tx1"/>
                </a:solidFill>
                <a:effectLst/>
                <a:latin typeface="Cascadia Code SemiBold" panose="020B0609020000020004" pitchFamily="49" charset="0"/>
                <a:ea typeface="MS Mincho" panose="02020609040205080304" pitchFamily="49" charset="-128"/>
                <a:cs typeface="Cascadia Code SemiBold" panose="020B0609020000020004" pitchFamily="49" charset="0"/>
              </a:rPr>
              <a:t>.</a:t>
            </a:r>
            <a:br>
              <a:rPr lang="fr-BE" sz="1800" b="1" dirty="0">
                <a:effectLst/>
                <a:latin typeface="Cascadia Code SemiBold" panose="020B0609020000020004" pitchFamily="49" charset="0"/>
                <a:ea typeface="MS Mincho" panose="02020609040205080304" pitchFamily="49" charset="-128"/>
                <a:cs typeface="Cascadia Code SemiBold" panose="020B0609020000020004" pitchFamily="49" charset="0"/>
              </a:rPr>
            </a:br>
            <a:endParaRPr lang="fr-BE" b="1" dirty="0">
              <a:latin typeface="Cascadia Code SemiBold" panose="020B0609020000020004" pitchFamily="49" charset="0"/>
              <a:cs typeface="Cascadia Code SemiBold" panose="020B0609020000020004" pitchFamily="49" charset="0"/>
            </a:endParaRPr>
          </a:p>
        </p:txBody>
      </p:sp>
      <p:sp>
        <p:nvSpPr>
          <p:cNvPr id="7" name="ZoneTexte 6">
            <a:extLst>
              <a:ext uri="{FF2B5EF4-FFF2-40B4-BE49-F238E27FC236}">
                <a16:creationId xmlns:a16="http://schemas.microsoft.com/office/drawing/2014/main" id="{B24EC4F3-8DE1-F1EA-DC8D-6B5C6EFDFB4D}"/>
              </a:ext>
            </a:extLst>
          </p:cNvPr>
          <p:cNvSpPr txBox="1"/>
          <p:nvPr/>
        </p:nvSpPr>
        <p:spPr>
          <a:xfrm>
            <a:off x="957130" y="38756"/>
            <a:ext cx="6101696" cy="461665"/>
          </a:xfrm>
          <a:prstGeom prst="rect">
            <a:avLst/>
          </a:prstGeom>
          <a:noFill/>
        </p:spPr>
        <p:txBody>
          <a:bodyPr wrap="square">
            <a:spAutoFit/>
          </a:bodyPr>
          <a:lstStyle/>
          <a:p>
            <a:r>
              <a:rPr lang="en-US" sz="2400" b="1" u="sng" dirty="0">
                <a:solidFill>
                  <a:srgbClr val="7030A0"/>
                </a:solidFill>
                <a:effectLst/>
                <a:latin typeface="Cascadia Code SemiBold" panose="020B0609020000020004" pitchFamily="49" charset="0"/>
                <a:ea typeface="MS Gothic" panose="020B0609070205080204" pitchFamily="49" charset="-128"/>
                <a:cs typeface="Cascadia Code SemiBold" panose="020B0609020000020004" pitchFamily="49" charset="0"/>
              </a:rPr>
              <a:t>Conclusions</a:t>
            </a:r>
            <a:r>
              <a:rPr lang="en-US" sz="2400" b="1" dirty="0">
                <a:solidFill>
                  <a:srgbClr val="7030A0"/>
                </a:solidFill>
                <a:effectLst/>
                <a:latin typeface="Cascadia Code SemiBold" panose="020B0609020000020004" pitchFamily="49" charset="0"/>
                <a:ea typeface="MS Gothic" panose="020B0609070205080204" pitchFamily="49" charset="-128"/>
                <a:cs typeface="Cascadia Code SemiBold" panose="020B0609020000020004" pitchFamily="49" charset="0"/>
              </a:rPr>
              <a:t>: </a:t>
            </a:r>
            <a:endParaRPr lang="fr-BE" sz="2400" dirty="0">
              <a:solidFill>
                <a:srgbClr val="7030A0"/>
              </a:solidFill>
            </a:endParaRPr>
          </a:p>
        </p:txBody>
      </p:sp>
      <p:sp>
        <p:nvSpPr>
          <p:cNvPr id="9" name="ZoneTexte 8">
            <a:extLst>
              <a:ext uri="{FF2B5EF4-FFF2-40B4-BE49-F238E27FC236}">
                <a16:creationId xmlns:a16="http://schemas.microsoft.com/office/drawing/2014/main" id="{B9B8BA97-3828-C31D-F0FD-A94A19104AC9}"/>
              </a:ext>
            </a:extLst>
          </p:cNvPr>
          <p:cNvSpPr txBox="1"/>
          <p:nvPr/>
        </p:nvSpPr>
        <p:spPr>
          <a:xfrm>
            <a:off x="5725682" y="3667948"/>
            <a:ext cx="5452217" cy="2308324"/>
          </a:xfrm>
          <a:prstGeom prst="rect">
            <a:avLst/>
          </a:prstGeom>
          <a:noFill/>
        </p:spPr>
        <p:txBody>
          <a:bodyPr wrap="square">
            <a:spAutoFit/>
          </a:bodyPr>
          <a:lstStyle/>
          <a:p>
            <a:pPr algn="l"/>
            <a:r>
              <a:rPr lang="fr-BE" sz="1600" b="0" i="0" u="none" strike="noStrike" baseline="0" dirty="0">
                <a:latin typeface="Cascadia Code SemiBold" panose="020B0609020000020004" pitchFamily="49" charset="0"/>
                <a:cs typeface="Cascadia Code SemiBold" panose="020B0609020000020004" pitchFamily="49" charset="0"/>
              </a:rPr>
              <a:t>• </a:t>
            </a:r>
            <a:r>
              <a:rPr lang="fr-BE" sz="1600" b="1" i="0" u="none" strike="noStrike" baseline="0" dirty="0">
                <a:latin typeface="Cascadia Code SemiBold" panose="020B0609020000020004" pitchFamily="49" charset="0"/>
                <a:cs typeface="Cascadia Code SemiBold" panose="020B0609020000020004" pitchFamily="49" charset="0"/>
              </a:rPr>
              <a:t>700 </a:t>
            </a:r>
            <a:r>
              <a:rPr lang="fr-BE" sz="1600" b="1" i="0" u="none" strike="noStrike" baseline="0" dirty="0" err="1">
                <a:latin typeface="Cascadia Code SemiBold" panose="020B0609020000020004" pitchFamily="49" charset="0"/>
                <a:cs typeface="Cascadia Code SemiBold" panose="020B0609020000020004" pitchFamily="49" charset="0"/>
              </a:rPr>
              <a:t>tracks</a:t>
            </a:r>
            <a:r>
              <a:rPr lang="fr-BE" sz="1600" b="1" i="0" u="none" strike="noStrike" baseline="0" dirty="0">
                <a:latin typeface="Cascadia Code SemiBold" panose="020B0609020000020004" pitchFamily="49" charset="0"/>
                <a:cs typeface="Cascadia Code SemiBold" panose="020B0609020000020004" pitchFamily="49" charset="0"/>
              </a:rPr>
              <a:t> </a:t>
            </a:r>
            <a:r>
              <a:rPr lang="fr-BE" sz="1600" b="0" i="0" u="none" strike="noStrike" baseline="0" dirty="0">
                <a:latin typeface="Cascadia Code SemiBold" panose="020B0609020000020004" pitchFamily="49" charset="0"/>
                <a:cs typeface="Cascadia Code SemiBold" panose="020B0609020000020004" pitchFamily="49" charset="0"/>
              </a:rPr>
              <a:t>électroniques analysées.</a:t>
            </a:r>
          </a:p>
          <a:p>
            <a:pPr algn="l"/>
            <a:r>
              <a:rPr lang="fr-BE" sz="1600" b="0" i="0" u="none" strike="noStrike" baseline="0" dirty="0">
                <a:latin typeface="Cascadia Code SemiBold" panose="020B0609020000020004" pitchFamily="49" charset="0"/>
                <a:cs typeface="Cascadia Code SemiBold" panose="020B0609020000020004" pitchFamily="49" charset="0"/>
              </a:rPr>
              <a:t>• </a:t>
            </a:r>
            <a:r>
              <a:rPr lang="fr-BE" sz="1600" b="1" i="0" u="none" strike="noStrike" baseline="0" dirty="0">
                <a:latin typeface="Cascadia Code SemiBold" panose="020B0609020000020004" pitchFamily="49" charset="0"/>
                <a:cs typeface="Cascadia Code SemiBold" panose="020B0609020000020004" pitchFamily="49" charset="0"/>
              </a:rPr>
              <a:t>Popularité moyenne : </a:t>
            </a:r>
            <a:r>
              <a:rPr lang="fr-BE" sz="1600" b="0" i="0" u="none" strike="noStrike" baseline="0" dirty="0">
                <a:latin typeface="Cascadia Code SemiBold" panose="020B0609020000020004" pitchFamily="49" charset="0"/>
                <a:cs typeface="Cascadia Code SemiBold" panose="020B0609020000020004" pitchFamily="49" charset="0"/>
              </a:rPr>
              <a:t>47,7.</a:t>
            </a:r>
          </a:p>
          <a:p>
            <a:pPr algn="l"/>
            <a:r>
              <a:rPr lang="fr-BE" sz="1600" b="0" i="0" u="none" strike="noStrike" baseline="0" dirty="0">
                <a:latin typeface="Cascadia Code SemiBold" panose="020B0609020000020004" pitchFamily="49" charset="0"/>
                <a:cs typeface="Cascadia Code SemiBold" panose="020B0609020000020004" pitchFamily="49" charset="0"/>
              </a:rPr>
              <a:t>• </a:t>
            </a:r>
            <a:r>
              <a:rPr lang="fr-BE" sz="1600" b="1" i="0" u="none" strike="noStrike" baseline="0" dirty="0">
                <a:latin typeface="Cascadia Code SemiBold" panose="020B0609020000020004" pitchFamily="49" charset="0"/>
                <a:cs typeface="Cascadia Code SemiBold" panose="020B0609020000020004" pitchFamily="49" charset="0"/>
              </a:rPr>
              <a:t>BPM moyen : </a:t>
            </a:r>
            <a:r>
              <a:rPr lang="fr-BE" sz="1600" b="0" i="0" u="none" strike="noStrike" baseline="0" dirty="0">
                <a:latin typeface="Cascadia Code SemiBold" panose="020B0609020000020004" pitchFamily="49" charset="0"/>
                <a:cs typeface="Cascadia Code SemiBold" panose="020B0609020000020004" pitchFamily="49" charset="0"/>
              </a:rPr>
              <a:t>127.</a:t>
            </a:r>
          </a:p>
          <a:p>
            <a:pPr algn="l"/>
            <a:r>
              <a:rPr lang="fr-FR" sz="1600" b="0" i="0" u="none" strike="noStrike" baseline="0" dirty="0">
                <a:latin typeface="Cascadia Code SemiBold" panose="020B0609020000020004" pitchFamily="49" charset="0"/>
                <a:cs typeface="Cascadia Code SemiBold" panose="020B0609020000020004" pitchFamily="49" charset="0"/>
              </a:rPr>
              <a:t>• Genres les plus dynamiques : </a:t>
            </a:r>
            <a:r>
              <a:rPr lang="fr-FR" sz="1600" b="0" i="0" u="none" strike="noStrike" baseline="0" dirty="0" err="1">
                <a:latin typeface="Cascadia Code SemiBold" panose="020B0609020000020004" pitchFamily="49" charset="0"/>
                <a:cs typeface="Cascadia Code SemiBold" panose="020B0609020000020004" pitchFamily="49" charset="0"/>
              </a:rPr>
              <a:t>Hardstyle</a:t>
            </a:r>
            <a:r>
              <a:rPr lang="fr-FR" sz="1600" b="0" i="0" u="none" strike="noStrike" baseline="0" dirty="0">
                <a:latin typeface="Cascadia Code SemiBold" panose="020B0609020000020004" pitchFamily="49" charset="0"/>
                <a:cs typeface="Cascadia Code SemiBold" panose="020B0609020000020004" pitchFamily="49" charset="0"/>
              </a:rPr>
              <a:t>/Hardcore, Techno, Trance.</a:t>
            </a:r>
          </a:p>
          <a:p>
            <a:pPr algn="l"/>
            <a:r>
              <a:rPr lang="fr-FR" sz="1600" b="0" i="0" u="none" strike="noStrike" baseline="0" dirty="0">
                <a:latin typeface="Cascadia Code SemiBold" panose="020B0609020000020004" pitchFamily="49" charset="0"/>
                <a:cs typeface="Cascadia Code SemiBold" panose="020B0609020000020004" pitchFamily="49" charset="0"/>
              </a:rPr>
              <a:t>• </a:t>
            </a:r>
            <a:r>
              <a:rPr lang="fr-FR" sz="1600" b="1" i="0" u="none" strike="noStrike" baseline="0" dirty="0">
                <a:latin typeface="Cascadia Code SemiBold" panose="020B0609020000020004" pitchFamily="49" charset="0"/>
                <a:cs typeface="Cascadia Code SemiBold" panose="020B0609020000020004" pitchFamily="49" charset="0"/>
              </a:rPr>
              <a:t>Durée moyenne d’un </a:t>
            </a:r>
            <a:r>
              <a:rPr lang="fr-FR" sz="1600" b="1" i="0" u="none" strike="noStrike" baseline="0" dirty="0" err="1">
                <a:latin typeface="Cascadia Code SemiBold" panose="020B0609020000020004" pitchFamily="49" charset="0"/>
                <a:cs typeface="Cascadia Code SemiBold" panose="020B0609020000020004" pitchFamily="49" charset="0"/>
              </a:rPr>
              <a:t>track</a:t>
            </a:r>
            <a:r>
              <a:rPr lang="fr-FR" sz="1600" b="1" i="0" u="none" strike="noStrike" baseline="0" dirty="0">
                <a:latin typeface="Cascadia Code SemiBold" panose="020B0609020000020004" pitchFamily="49" charset="0"/>
                <a:cs typeface="Cascadia Code SemiBold" panose="020B0609020000020004" pitchFamily="49" charset="0"/>
              </a:rPr>
              <a:t> : </a:t>
            </a:r>
            <a:r>
              <a:rPr lang="fr-FR" sz="1600" b="0" i="0" u="none" strike="noStrike" baseline="0" dirty="0">
                <a:latin typeface="Cascadia Code SemiBold" panose="020B0609020000020004" pitchFamily="49" charset="0"/>
                <a:cs typeface="Cascadia Code SemiBold" panose="020B0609020000020004" pitchFamily="49" charset="0"/>
              </a:rPr>
              <a:t>4 minutes (MM:SS).</a:t>
            </a:r>
          </a:p>
          <a:p>
            <a:pPr algn="l"/>
            <a:r>
              <a:rPr lang="fr-FR" sz="1600" b="0" i="0" u="none" strike="noStrike" baseline="0" dirty="0">
                <a:latin typeface="Cascadia Code SemiBold" panose="020B0609020000020004" pitchFamily="49" charset="0"/>
                <a:cs typeface="Cascadia Code SemiBold" panose="020B0609020000020004" pitchFamily="49" charset="0"/>
              </a:rPr>
              <a:t>• Distribution des tempos centrée entre 120–140 BPM.</a:t>
            </a:r>
            <a:endParaRPr lang="fr-BE" sz="1600" dirty="0">
              <a:latin typeface="Cascadia Code SemiBold" panose="020B0609020000020004" pitchFamily="49" charset="0"/>
              <a:cs typeface="Cascadia Code SemiBold" panose="020B0609020000020004" pitchFamily="49" charset="0"/>
            </a:endParaRPr>
          </a:p>
        </p:txBody>
      </p:sp>
      <p:sp>
        <p:nvSpPr>
          <p:cNvPr id="11" name="ZoneTexte 10">
            <a:extLst>
              <a:ext uri="{FF2B5EF4-FFF2-40B4-BE49-F238E27FC236}">
                <a16:creationId xmlns:a16="http://schemas.microsoft.com/office/drawing/2014/main" id="{067A07F0-B8E8-58E5-39DD-BA87FAA8EECA}"/>
              </a:ext>
            </a:extLst>
          </p:cNvPr>
          <p:cNvSpPr txBox="1"/>
          <p:nvPr/>
        </p:nvSpPr>
        <p:spPr>
          <a:xfrm>
            <a:off x="410198" y="2960926"/>
            <a:ext cx="3794333" cy="461665"/>
          </a:xfrm>
          <a:prstGeom prst="rect">
            <a:avLst/>
          </a:prstGeom>
          <a:noFill/>
        </p:spPr>
        <p:txBody>
          <a:bodyPr wrap="square">
            <a:spAutoFit/>
          </a:bodyPr>
          <a:lstStyle/>
          <a:p>
            <a:r>
              <a:rPr lang="fr-BE" sz="2400" b="1" i="0" u="none" strike="noStrike" baseline="0" dirty="0">
                <a:solidFill>
                  <a:srgbClr val="7030A0"/>
                </a:solidFill>
                <a:latin typeface="Cascadia Code SemiBold" panose="020B0609020000020004" pitchFamily="49" charset="0"/>
                <a:cs typeface="Cascadia Code SemiBold" panose="020B0609020000020004" pitchFamily="49" charset="0"/>
              </a:rPr>
              <a:t>Analyse Festivals</a:t>
            </a:r>
            <a:r>
              <a:rPr lang="fr-BE" sz="2400" b="1" dirty="0">
                <a:solidFill>
                  <a:srgbClr val="7030A0"/>
                </a:solidFill>
                <a:latin typeface="Cascadia Code SemiBold" panose="020B0609020000020004" pitchFamily="49" charset="0"/>
                <a:cs typeface="Cascadia Code SemiBold" panose="020B0609020000020004" pitchFamily="49" charset="0"/>
              </a:rPr>
              <a:t>:</a:t>
            </a:r>
            <a:endParaRPr lang="fr-BE" sz="2400" dirty="0">
              <a:solidFill>
                <a:srgbClr val="7030A0"/>
              </a:solidFill>
              <a:latin typeface="Cascadia Code SemiBold" panose="020B0609020000020004" pitchFamily="49" charset="0"/>
              <a:cs typeface="Cascadia Code SemiBold" panose="020B0609020000020004" pitchFamily="49" charset="0"/>
            </a:endParaRPr>
          </a:p>
        </p:txBody>
      </p:sp>
      <p:sp>
        <p:nvSpPr>
          <p:cNvPr id="12" name="ZoneTexte 11">
            <a:extLst>
              <a:ext uri="{FF2B5EF4-FFF2-40B4-BE49-F238E27FC236}">
                <a16:creationId xmlns:a16="http://schemas.microsoft.com/office/drawing/2014/main" id="{022F81DF-B280-319C-7268-5C7D6823F85F}"/>
              </a:ext>
            </a:extLst>
          </p:cNvPr>
          <p:cNvSpPr txBox="1"/>
          <p:nvPr/>
        </p:nvSpPr>
        <p:spPr>
          <a:xfrm>
            <a:off x="5766987" y="2872188"/>
            <a:ext cx="3161944" cy="461665"/>
          </a:xfrm>
          <a:prstGeom prst="rect">
            <a:avLst/>
          </a:prstGeom>
          <a:noFill/>
        </p:spPr>
        <p:txBody>
          <a:bodyPr wrap="square">
            <a:spAutoFit/>
          </a:bodyPr>
          <a:lstStyle/>
          <a:p>
            <a:r>
              <a:rPr lang="fr-BE" sz="2400" b="1" i="0" u="none" strike="noStrike" baseline="0" dirty="0">
                <a:solidFill>
                  <a:srgbClr val="7030A0"/>
                </a:solidFill>
                <a:latin typeface="Cascadia Code SemiBold" panose="020B0609020000020004" pitchFamily="49" charset="0"/>
                <a:cs typeface="Cascadia Code SemiBold" panose="020B0609020000020004" pitchFamily="49" charset="0"/>
              </a:rPr>
              <a:t>Analyse Spotify</a:t>
            </a:r>
            <a:r>
              <a:rPr lang="fr-BE" sz="2400" b="1" dirty="0">
                <a:solidFill>
                  <a:srgbClr val="7030A0"/>
                </a:solidFill>
                <a:latin typeface="Cascadia Code SemiBold" panose="020B0609020000020004" pitchFamily="49" charset="0"/>
                <a:cs typeface="Cascadia Code SemiBold" panose="020B0609020000020004" pitchFamily="49" charset="0"/>
              </a:rPr>
              <a:t>:</a:t>
            </a:r>
            <a:endParaRPr lang="fr-BE" sz="2400" dirty="0">
              <a:solidFill>
                <a:srgbClr val="7030A0"/>
              </a:solidFill>
              <a:latin typeface="Cascadia Code SemiBold" panose="020B0609020000020004" pitchFamily="49" charset="0"/>
              <a:cs typeface="Cascadia Code SemiBold" panose="020B0609020000020004" pitchFamily="49" charset="0"/>
            </a:endParaRPr>
          </a:p>
        </p:txBody>
      </p:sp>
      <p:sp>
        <p:nvSpPr>
          <p:cNvPr id="13" name="ZoneTexte 12">
            <a:extLst>
              <a:ext uri="{FF2B5EF4-FFF2-40B4-BE49-F238E27FC236}">
                <a16:creationId xmlns:a16="http://schemas.microsoft.com/office/drawing/2014/main" id="{BCA79675-5260-7F4B-E3B9-2BB659AF828B}"/>
              </a:ext>
            </a:extLst>
          </p:cNvPr>
          <p:cNvSpPr txBox="1"/>
          <p:nvPr/>
        </p:nvSpPr>
        <p:spPr>
          <a:xfrm>
            <a:off x="314770" y="3763948"/>
            <a:ext cx="5452217" cy="2308324"/>
          </a:xfrm>
          <a:prstGeom prst="rect">
            <a:avLst/>
          </a:prstGeom>
          <a:noFill/>
        </p:spPr>
        <p:txBody>
          <a:bodyPr wrap="square">
            <a:spAutoFit/>
          </a:bodyPr>
          <a:lstStyle/>
          <a:p>
            <a:pPr algn="l"/>
            <a:r>
              <a:rPr lang="fr-BE" sz="1600" i="0" u="none" strike="noStrike" baseline="0" dirty="0">
                <a:latin typeface="Cascadia Code SemiBold" panose="020B0609020000020004" pitchFamily="49" charset="0"/>
                <a:cs typeface="Cascadia Code SemiBold" panose="020B0609020000020004" pitchFamily="49" charset="0"/>
              </a:rPr>
              <a:t>• 701 festivals analysés (2025–2026).</a:t>
            </a:r>
          </a:p>
          <a:p>
            <a:pPr algn="l"/>
            <a:r>
              <a:rPr lang="fr-FR" sz="1600" i="0" u="none" strike="noStrike" baseline="0" dirty="0">
                <a:latin typeface="Cascadia Code SemiBold" panose="020B0609020000020004" pitchFamily="49" charset="0"/>
                <a:cs typeface="Cascadia Code SemiBold" panose="020B0609020000020004" pitchFamily="49" charset="0"/>
              </a:rPr>
              <a:t>• Répartition par pays, par mois, par genre et par année.</a:t>
            </a:r>
          </a:p>
          <a:p>
            <a:pPr algn="l"/>
            <a:r>
              <a:rPr lang="fr-FR" sz="1600" i="0" u="none" strike="noStrike" baseline="0" dirty="0">
                <a:latin typeface="Cascadia Code SemiBold" panose="020B0609020000020004" pitchFamily="49" charset="0"/>
                <a:cs typeface="Cascadia Code SemiBold" panose="020B0609020000020004" pitchFamily="49" charset="0"/>
              </a:rPr>
              <a:t>• Prix moyen hors frais : €97,83.</a:t>
            </a:r>
          </a:p>
          <a:p>
            <a:pPr algn="l"/>
            <a:r>
              <a:rPr lang="fr-FR" sz="1600" i="0" u="none" strike="noStrike" baseline="0" dirty="0">
                <a:latin typeface="Cascadia Code SemiBold" panose="020B0609020000020004" pitchFamily="49" charset="0"/>
                <a:cs typeface="Cascadia Code SemiBold" panose="020B0609020000020004" pitchFamily="49" charset="0"/>
              </a:rPr>
              <a:t>• Moyenne des festivaliers : 32 845.</a:t>
            </a:r>
          </a:p>
          <a:p>
            <a:pPr algn="l"/>
            <a:r>
              <a:rPr lang="fr-FR" sz="1600" i="0" u="none" strike="noStrike" baseline="0" dirty="0">
                <a:latin typeface="Cascadia Code SemiBold" panose="020B0609020000020004" pitchFamily="49" charset="0"/>
                <a:cs typeface="Cascadia Code SemiBold" panose="020B0609020000020004" pitchFamily="49" charset="0"/>
              </a:rPr>
              <a:t>• Genres les plus représentés : Electro, House, Trance, Dance.</a:t>
            </a:r>
          </a:p>
          <a:p>
            <a:pPr algn="l"/>
            <a:r>
              <a:rPr lang="fr-FR" sz="1600" i="0" u="none" strike="noStrike" baseline="0" dirty="0">
                <a:latin typeface="Cascadia Code SemiBold" panose="020B0609020000020004" pitchFamily="49" charset="0"/>
                <a:cs typeface="Cascadia Code SemiBold" panose="020B0609020000020004" pitchFamily="49" charset="0"/>
              </a:rPr>
              <a:t>• Montée en intensité des festivals entre mai et août avec un pic en juillet.</a:t>
            </a:r>
            <a:endParaRPr lang="fr-BE" sz="1600" dirty="0">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468368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72737C-94C3-EAD4-1D14-4664C5BB3272}"/>
              </a:ext>
            </a:extLst>
          </p:cNvPr>
          <p:cNvSpPr>
            <a:spLocks noGrp="1"/>
          </p:cNvSpPr>
          <p:nvPr>
            <p:ph type="ctrTitle"/>
          </p:nvPr>
        </p:nvSpPr>
        <p:spPr>
          <a:xfrm>
            <a:off x="1507067" y="953037"/>
            <a:ext cx="7766936" cy="3097799"/>
          </a:xfrm>
        </p:spPr>
        <p:txBody>
          <a:bodyPr/>
          <a:lstStyle/>
          <a:p>
            <a:pPr algn="ctr">
              <a:lnSpc>
                <a:spcPct val="115000"/>
              </a:lnSpc>
              <a:spcBef>
                <a:spcPts val="1000"/>
              </a:spcBef>
            </a:pPr>
            <a:r>
              <a:rPr lang="fr-FR" sz="4400" b="1" dirty="0">
                <a:solidFill>
                  <a:srgbClr val="4F81BD"/>
                </a:solidFill>
                <a:effectLst/>
                <a:latin typeface="Cascadia Code SemiBold" panose="020B0609020000020004" pitchFamily="49" charset="0"/>
                <a:ea typeface="MS Gothic" panose="020B0609070205080204" pitchFamily="49" charset="-128"/>
                <a:cs typeface="Cascadia Code SemiBold" panose="020B0609020000020004" pitchFamily="49" charset="0"/>
              </a:rPr>
              <a:t>Questions?</a:t>
            </a:r>
            <a:br>
              <a:rPr lang="fr-BE" sz="1800" b="1" dirty="0">
                <a:effectLst/>
                <a:latin typeface="Cascadia Code SemiBold" panose="020B0609020000020004" pitchFamily="49" charset="0"/>
                <a:ea typeface="MS Mincho" panose="02020609040205080304" pitchFamily="49" charset="-128"/>
                <a:cs typeface="Cascadia Code SemiBold" panose="020B0609020000020004" pitchFamily="49" charset="0"/>
              </a:rPr>
            </a:br>
            <a:endParaRPr lang="fr-BE" b="1" dirty="0">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30103817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2872737C-94C3-EAD4-1D14-4664C5BB3272}"/>
              </a:ext>
            </a:extLst>
          </p:cNvPr>
          <p:cNvSpPr>
            <a:spLocks noGrp="1"/>
          </p:cNvSpPr>
          <p:nvPr>
            <p:ph type="ctrTitle"/>
          </p:nvPr>
        </p:nvSpPr>
        <p:spPr>
          <a:xfrm>
            <a:off x="1507067" y="953037"/>
            <a:ext cx="7766936" cy="3097799"/>
          </a:xfrm>
        </p:spPr>
        <p:txBody>
          <a:bodyPr/>
          <a:lstStyle/>
          <a:p>
            <a:pPr algn="ctr">
              <a:lnSpc>
                <a:spcPct val="115000"/>
              </a:lnSpc>
              <a:spcBef>
                <a:spcPts val="1000"/>
              </a:spcBef>
            </a:pPr>
            <a:r>
              <a:rPr lang="fr-FR" sz="4400" b="1" dirty="0">
                <a:solidFill>
                  <a:srgbClr val="4F81BD"/>
                </a:solidFill>
                <a:effectLst/>
                <a:latin typeface="Cascadia Code SemiBold" panose="020B0609020000020004" pitchFamily="49" charset="0"/>
                <a:ea typeface="MS Gothic" panose="020B0609070205080204" pitchFamily="49" charset="-128"/>
                <a:cs typeface="Cascadia Code SemiBold" panose="020B0609020000020004" pitchFamily="49" charset="0"/>
              </a:rPr>
              <a:t>Merci </a:t>
            </a:r>
            <a:r>
              <a:rPr lang="fr-FR" sz="4400" b="1" dirty="0">
                <a:solidFill>
                  <a:srgbClr val="4F81BD"/>
                </a:solidFill>
                <a:effectLst/>
                <a:latin typeface="Cascadia Code SemiBold" panose="020B0609020000020004" pitchFamily="49" charset="0"/>
                <a:ea typeface="MS Gothic" panose="020B0609070205080204" pitchFamily="49" charset="-128"/>
                <a:cs typeface="Cascadia Code SemiBold" panose="020B0609020000020004" pitchFamily="49" charset="0"/>
                <a:sym typeface="Wingdings" panose="05000000000000000000" pitchFamily="2" charset="2"/>
              </a:rPr>
              <a:t></a:t>
            </a:r>
            <a:br>
              <a:rPr lang="fr-BE" sz="1800" b="1" dirty="0">
                <a:effectLst/>
                <a:latin typeface="Cascadia Code SemiBold" panose="020B0609020000020004" pitchFamily="49" charset="0"/>
                <a:ea typeface="MS Mincho" panose="02020609040205080304" pitchFamily="49" charset="-128"/>
                <a:cs typeface="Cascadia Code SemiBold" panose="020B0609020000020004" pitchFamily="49" charset="0"/>
              </a:rPr>
            </a:br>
            <a:endParaRPr lang="fr-BE" b="1" dirty="0">
              <a:latin typeface="Cascadia Code SemiBold" panose="020B0609020000020004" pitchFamily="49" charset="0"/>
              <a:cs typeface="Cascadia Code SemiBold" panose="020B0609020000020004" pitchFamily="49" charset="0"/>
            </a:endParaRPr>
          </a:p>
        </p:txBody>
      </p:sp>
    </p:spTree>
    <p:extLst>
      <p:ext uri="{BB962C8B-B14F-4D97-AF65-F5344CB8AC3E}">
        <p14:creationId xmlns:p14="http://schemas.microsoft.com/office/powerpoint/2010/main" val="330515634"/>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TM02900688[[fn=Facette]]</Template>
  <TotalTime>222</TotalTime>
  <Words>528</Words>
  <Application>Microsoft Office PowerPoint</Application>
  <PresentationFormat>Grand écran</PresentationFormat>
  <Paragraphs>53</Paragraphs>
  <Slides>20</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20</vt:i4>
      </vt:variant>
    </vt:vector>
  </HeadingPairs>
  <TitlesOfParts>
    <vt:vector size="25" baseType="lpstr">
      <vt:lpstr>Arial</vt:lpstr>
      <vt:lpstr>Cascadia Code SemiBold</vt:lpstr>
      <vt:lpstr>Trebuchet MS</vt:lpstr>
      <vt:lpstr>Wingdings 3</vt:lpstr>
      <vt:lpstr>Facette</vt:lpstr>
      <vt:lpstr>Projet BI Musiques électroniques &amp; Festivals</vt:lpstr>
      <vt:lpstr>Objectifs:</vt:lpstr>
      <vt:lpstr>Structure:</vt:lpstr>
      <vt:lpstr>Présentation PowerPoint</vt:lpstr>
      <vt:lpstr>ETL:Data Extraction pour les Festivals </vt:lpstr>
      <vt:lpstr>ETL:Data Transformation (Staging) </vt:lpstr>
      <vt:lpstr>Dataset Spotify:</vt:lpstr>
      <vt:lpstr>Script M pour Spotify en Power Query:</vt:lpstr>
      <vt:lpstr>Dataset Festivals:</vt:lpstr>
      <vt:lpstr>Script M pour Festivals en Power Query:</vt:lpstr>
      <vt:lpstr>ETL:Data Load (chargement vers Data Warehouse):</vt:lpstr>
      <vt:lpstr>Data Warehouse – Modèle dimensionnel (Star/Snowflake schémas):</vt:lpstr>
      <vt:lpstr>Dashboards en Power BI: Spotify Genres &amp; Popularité</vt:lpstr>
      <vt:lpstr>Dashboards en Power BI: Spotify KPI’s</vt:lpstr>
      <vt:lpstr>Dashboards en Power BI: Festivals - Genres</vt:lpstr>
      <vt:lpstr>Dashboards en Power BI: Festival KPI’s</vt:lpstr>
      <vt:lpstr>Dashboards en Power BI: Résumé</vt:lpstr>
      <vt:lpstr>Le projet démontre la capacité à manipuler des données hétérogènes, appliquer les concepts BI (ETL, modèle dimensionnel, DAX) et concevoir des dashboards professionnels. L’approche permet d’apporter une vision claire et exploitable tant de l’industrie musicale électronique que des festivals européens. </vt:lpstr>
      <vt:lpstr>Questions? </vt:lpstr>
      <vt:lpstr>Merci  </vt:lpstr>
    </vt:vector>
  </TitlesOfParts>
  <Company>Technofuturtic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Nicolas Englebert</dc:creator>
  <cp:lastModifiedBy>Nicolas Englebert</cp:lastModifiedBy>
  <cp:revision>2</cp:revision>
  <dcterms:created xsi:type="dcterms:W3CDTF">2025-11-27T10:01:01Z</dcterms:created>
  <dcterms:modified xsi:type="dcterms:W3CDTF">2025-11-27T13:43:18Z</dcterms:modified>
</cp:coreProperties>
</file>